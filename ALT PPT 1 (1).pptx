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59"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0800000" flipV="1">
            <a:off x="2839616" y="3984171"/>
            <a:ext cx="6512767" cy="925366"/>
          </a:xfrm>
        </p:spPr>
        <p:txBody>
          <a:bodyPr/>
          <a:lstStyle/>
          <a:p>
            <a:br>
              <a:rPr lang="en-US" sz="1000" b="1" dirty="0">
                <a:solidFill>
                  <a:srgbClr val="C00000"/>
                </a:solidFill>
                <a:latin typeface="+mn-lt"/>
              </a:rPr>
            </a:br>
            <a:br>
              <a:rPr lang="en-US" sz="1000" b="1" dirty="0">
                <a:solidFill>
                  <a:srgbClr val="C00000"/>
                </a:solidFill>
                <a:latin typeface="+mn-lt"/>
              </a:rPr>
            </a:br>
            <a:br>
              <a:rPr lang="en-US" sz="1000" b="1" dirty="0">
                <a:solidFill>
                  <a:srgbClr val="C00000"/>
                </a:solidFill>
                <a:latin typeface="+mn-lt"/>
              </a:rPr>
            </a:br>
            <a:br>
              <a:rPr lang="en-US" sz="2400" b="1" dirty="0">
                <a:solidFill>
                  <a:srgbClr val="C00000"/>
                </a:solidFill>
                <a:latin typeface="+mn-lt"/>
              </a:rPr>
            </a:br>
            <a:r>
              <a:rPr lang="en-US" sz="2400" b="1" dirty="0">
                <a:solidFill>
                  <a:srgbClr val="C00000"/>
                </a:solidFill>
                <a:latin typeface="Times New Roman" panose="02020603050405020304" pitchFamily="18" charset="0"/>
                <a:cs typeface="Times New Roman" panose="02020603050405020304" pitchFamily="18" charset="0"/>
              </a:rPr>
              <a:t>Applied Machine Learning for Text Analysis</a:t>
            </a:r>
            <a:br>
              <a:rPr lang="en-US" sz="2400" b="1" dirty="0">
                <a:solidFill>
                  <a:srgbClr val="C00000"/>
                </a:solidFill>
                <a:latin typeface="Times New Roman" panose="02020603050405020304" pitchFamily="18" charset="0"/>
                <a:cs typeface="Times New Roman" panose="02020603050405020304" pitchFamily="18" charset="0"/>
              </a:rPr>
            </a:br>
            <a:r>
              <a:rPr lang="en-US" sz="2400" b="1" dirty="0">
                <a:solidFill>
                  <a:srgbClr val="C00000"/>
                </a:solidFill>
                <a:latin typeface="Times New Roman" panose="02020603050405020304" pitchFamily="18" charset="0"/>
                <a:cs typeface="Times New Roman" panose="02020603050405020304" pitchFamily="18" charset="0"/>
              </a:rPr>
              <a:t>(24ALT3101)</a:t>
            </a:r>
            <a:br>
              <a:rPr lang="en-US" sz="2400" b="1" dirty="0">
                <a:solidFill>
                  <a:srgbClr val="C00000"/>
                </a:solidFill>
                <a:latin typeface="Times New Roman" panose="02020603050405020304" pitchFamily="18" charset="0"/>
                <a:cs typeface="Times New Roman" panose="02020603050405020304" pitchFamily="18" charset="0"/>
              </a:rPr>
            </a:br>
            <a:br>
              <a:rPr lang="en-US" sz="2400" b="1" dirty="0">
                <a:solidFill>
                  <a:srgbClr val="C00000"/>
                </a:solidFill>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Retrieval-Augmented Medical Question Answering Assistant</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Submitted by: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K.Navya-240030180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 Deepika – 2420030097</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K.Bhavya-2420030181</a:t>
            </a:r>
            <a:br>
              <a:rPr lang="en-IN" sz="2400" b="1" dirty="0"/>
            </a:br>
            <a:br>
              <a:rPr lang="en-IN" sz="2400" b="1" dirty="0"/>
            </a:br>
            <a:r>
              <a:rPr lang="en-IN" sz="1800" dirty="0">
                <a:latin typeface="Times New Roman" panose="02020603050405020304" pitchFamily="18" charset="0"/>
                <a:cs typeface="Times New Roman" panose="02020603050405020304" pitchFamily="18" charset="0"/>
              </a:rPr>
              <a:t>Group Number: 1  Section: 7</a:t>
            </a:r>
            <a:br>
              <a:rPr lang="en-IN" sz="2000" dirty="0"/>
            </a:br>
            <a:br>
              <a:rPr lang="en-IN" sz="2000" dirty="0"/>
            </a:br>
            <a:endParaRPr lang="en-US" sz="2000" b="1" dirty="0">
              <a:solidFill>
                <a:srgbClr val="C00000"/>
              </a:solidFill>
              <a:latin typeface="+mn-lt"/>
            </a:endParaRPr>
          </a:p>
        </p:txBody>
      </p:sp>
      <p:sp>
        <p:nvSpPr>
          <p:cNvPr id="3" name="Subtitle 2"/>
          <p:cNvSpPr>
            <a:spLocks noGrp="1"/>
          </p:cNvSpPr>
          <p:nvPr>
            <p:ph type="subTitle" idx="1"/>
          </p:nvPr>
        </p:nvSpPr>
        <p:spPr>
          <a:xfrm>
            <a:off x="3990241" y="3984171"/>
            <a:ext cx="4551284" cy="309547"/>
          </a:xfrm>
        </p:spPr>
        <p:txBody>
          <a:bodyPr/>
          <a:lstStyle/>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r>
              <a:rPr lang="en-US" sz="1800" b="1" dirty="0">
                <a:latin typeface="Times New Roman" panose="02020603050405020304" pitchFamily="18" charset="0"/>
                <a:cs typeface="Times New Roman" panose="02020603050405020304" pitchFamily="18" charset="0"/>
              </a:rPr>
              <a:t>Under the Guidance of</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err="1">
                <a:latin typeface="Times New Roman" panose="02020603050405020304" pitchFamily="18" charset="0"/>
                <a:cs typeface="Times New Roman" panose="02020603050405020304" pitchFamily="18" charset="0"/>
              </a:rPr>
              <a:t>Mrs.Swanthana</a:t>
            </a:r>
            <a:br>
              <a:rPr lang="en-US" dirty="0"/>
            </a:br>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036313" y="1235656"/>
            <a:ext cx="4484160" cy="5325560"/>
          </a:xfrm>
          <a:prstGeom prst="rect">
            <a:avLst/>
          </a:prstGeom>
          <a:noFill/>
        </p:spPr>
        <p:txBody>
          <a:bodyPr wrap="squar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Problem statement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b="0" i="0" u="none" strike="noStrike" kern="1200" dirty="0">
                <a:solidFill>
                  <a:srgbClr val="000000"/>
                </a:solidFill>
                <a:effectLst/>
                <a:latin typeface="Times New Roman" panose="02020603050405020304" pitchFamily="18" charset="0"/>
                <a:cs typeface="Times New Roman" panose="02020603050405020304" pitchFamily="18" charset="0"/>
              </a:rPr>
              <a:t>obj</a:t>
            </a:r>
            <a:r>
              <a:rPr lang="en-US" dirty="0">
                <a:solidFill>
                  <a:srgbClr val="000000"/>
                </a:solidFill>
                <a:latin typeface="Times New Roman" panose="02020603050405020304" pitchFamily="18" charset="0"/>
                <a:cs typeface="Times New Roman" panose="02020603050405020304" pitchFamily="18" charset="0"/>
              </a:rPr>
              <a:t>ectives</a:t>
            </a:r>
            <a:endParaRPr lang="en-US" b="0" i="0" u="none" strike="noStrike" kern="1200" dirty="0">
              <a:solidFill>
                <a:srgbClr val="000000"/>
              </a:solidFill>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Literature survey</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Research Gap  Identification</a:t>
            </a:r>
            <a:endParaRPr lang="en-IN" b="0" i="0" u="none" strike="noStrike" dirty="0">
              <a:effectLst/>
              <a:latin typeface="Times New Roman" panose="02020603050405020304" pitchFamily="18" charset="0"/>
              <a:cs typeface="Times New Roman" panose="02020603050405020304" pitchFamily="18"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Innovation</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Creativity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Novelty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Feasibility</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Flowchart</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Project Plan</a:t>
            </a:r>
          </a:p>
          <a:p>
            <a:pPr algn="l" rtl="0" eaLnBrk="1" fontAlgn="t" latinLnBrk="0" hangingPunct="1">
              <a:lnSpc>
                <a:spcPct val="107000"/>
              </a:lnSpc>
              <a:spcBef>
                <a:spcPts val="0"/>
              </a:spcBef>
              <a:spcAft>
                <a:spcPts val="800"/>
              </a:spcAft>
            </a:pPr>
            <a:endParaRPr lang="en-IN" b="0" i="0" u="none" strike="noStrike" dirty="0">
              <a:effectLst/>
              <a:latin typeface="Times New Roman" panose="02020603050405020304" pitchFamily="18" charset="0"/>
              <a:cs typeface="Times New Roman" panose="02020603050405020304" pitchFamily="18"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65078A58-6A66-8B6F-D0CB-F6E7C730B66C}"/>
              </a:ext>
            </a:extLst>
          </p:cNvPr>
          <p:cNvSpPr txBox="1"/>
          <p:nvPr/>
        </p:nvSpPr>
        <p:spPr>
          <a:xfrm>
            <a:off x="602183" y="1646853"/>
            <a:ext cx="11254153" cy="4278094"/>
          </a:xfrm>
          <a:prstGeom prst="rect">
            <a:avLst/>
          </a:prstGeom>
          <a:noFill/>
        </p:spPr>
        <p:txBody>
          <a:bodyPr wrap="square">
            <a:spAutoFit/>
          </a:bodyPr>
          <a:lstStyle/>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users receive inaccurate or misleading medical information from search engines and general AI chatbots.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This project develops an </a:t>
            </a:r>
            <a:r>
              <a:rPr lang="en-IN" sz="1600" b="1" dirty="0">
                <a:latin typeface="Times New Roman" panose="02020603050405020304" pitchFamily="18" charset="0"/>
                <a:cs typeface="Times New Roman" panose="02020603050405020304" pitchFamily="18" charset="0"/>
              </a:rPr>
              <a:t>RAG based Medical Question Answering Assistant</a:t>
            </a:r>
            <a:r>
              <a:rPr lang="en-IN" sz="1600" dirty="0">
                <a:latin typeface="Times New Roman" panose="02020603050405020304" pitchFamily="18" charset="0"/>
                <a:cs typeface="Times New Roman" panose="02020603050405020304" pitchFamily="18" charset="0"/>
              </a:rPr>
              <a:t> that provides reliable and context-aware medical answers.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system uses the </a:t>
            </a:r>
            <a:r>
              <a:rPr lang="en-IN" sz="1600" b="1" dirty="0">
                <a:latin typeface="Times New Roman" panose="02020603050405020304" pitchFamily="18" charset="0"/>
                <a:cs typeface="Times New Roman" panose="02020603050405020304" pitchFamily="18" charset="0"/>
              </a:rPr>
              <a:t>MedQuAD</a:t>
            </a:r>
            <a:r>
              <a:rPr lang="en-IN" sz="1600" dirty="0">
                <a:latin typeface="Times New Roman" panose="02020603050405020304" pitchFamily="18" charset="0"/>
                <a:cs typeface="Times New Roman" panose="02020603050405020304" pitchFamily="18" charset="0"/>
              </a:rPr>
              <a:t> dataset as a trusted medical knowledge base.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is used for understanding medical text, </a:t>
            </a:r>
            <a:r>
              <a:rPr lang="en-IN" sz="1600" b="1" dirty="0">
                <a:latin typeface="Times New Roman" panose="02020603050405020304" pitchFamily="18" charset="0"/>
                <a:cs typeface="Times New Roman" panose="02020603050405020304" pitchFamily="18" charset="0"/>
              </a:rPr>
              <a:t>FAISS</a:t>
            </a:r>
            <a:r>
              <a:rPr lang="en-IN" sz="1600" dirty="0">
                <a:latin typeface="Times New Roman" panose="02020603050405020304" pitchFamily="18" charset="0"/>
                <a:cs typeface="Times New Roman" panose="02020603050405020304" pitchFamily="18" charset="0"/>
              </a:rPr>
              <a:t> for retrieving relevant information, and </a:t>
            </a:r>
            <a:r>
              <a:rPr lang="en-IN" sz="1600" b="1" dirty="0" err="1">
                <a:latin typeface="Times New Roman" panose="02020603050405020304" pitchFamily="18" charset="0"/>
                <a:cs typeface="Times New Roman" panose="02020603050405020304" pitchFamily="18" charset="0"/>
              </a:rPr>
              <a:t>LangChain</a:t>
            </a:r>
            <a:r>
              <a:rPr lang="en-IN" sz="1600" b="1" dirty="0">
                <a:latin typeface="Times New Roman" panose="02020603050405020304" pitchFamily="18" charset="0"/>
                <a:cs typeface="Times New Roman" panose="02020603050405020304" pitchFamily="18" charset="0"/>
              </a:rPr>
              <a:t> with an LLM</a:t>
            </a:r>
            <a:r>
              <a:rPr lang="en-IN" sz="1600" dirty="0">
                <a:latin typeface="Times New Roman" panose="02020603050405020304" pitchFamily="18" charset="0"/>
                <a:cs typeface="Times New Roman" panose="02020603050405020304" pitchFamily="18" charset="0"/>
              </a:rPr>
              <a:t> for generating accurate responses.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application is built using </a:t>
            </a:r>
            <a:r>
              <a:rPr lang="en-IN" sz="1600" b="1" dirty="0">
                <a:latin typeface="Times New Roman" panose="02020603050405020304" pitchFamily="18" charset="0"/>
                <a:cs typeface="Times New Roman" panose="02020603050405020304" pitchFamily="18" charset="0"/>
              </a:rPr>
              <a:t>Python, Flask, HTML, CSS, and JavaScript</a:t>
            </a:r>
            <a:r>
              <a:rPr lang="en-IN" sz="1600" dirty="0">
                <a:latin typeface="Times New Roman" panose="02020603050405020304" pitchFamily="18" charset="0"/>
                <a:cs typeface="Times New Roman" panose="02020603050405020304" pitchFamily="18" charset="0"/>
              </a:rPr>
              <a:t> with a simple and user-friendly interface. </a:t>
            </a:r>
          </a:p>
          <a:p>
            <a:pPr marL="171450" lvl="0" indent="-1714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Additional features include </a:t>
            </a:r>
            <a:r>
              <a:rPr lang="en-IN" sz="1600" b="1" dirty="0">
                <a:latin typeface="Times New Roman" panose="02020603050405020304" pitchFamily="18" charset="0"/>
                <a:cs typeface="Times New Roman" panose="02020603050405020304" pitchFamily="18" charset="0"/>
              </a:rPr>
              <a:t>user login, search history, download, and medical disclaimers</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171450" lvl="0" indent="-1714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proposed system aims to reduce incorrect AI responses by retrieving information from trusted medical sources before generating answers.</a:t>
            </a:r>
          </a:p>
          <a:p>
            <a:pPr marL="171450" indent="-1714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188780"/>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E347E65F-A722-8232-E70C-F1EEB73CF4B1}"/>
              </a:ext>
            </a:extLst>
          </p:cNvPr>
          <p:cNvSpPr txBox="1"/>
          <p:nvPr/>
        </p:nvSpPr>
        <p:spPr>
          <a:xfrm>
            <a:off x="581606" y="2360646"/>
            <a:ext cx="11028784" cy="2585323"/>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Nowadays, many people search online for medical information. However, search engines and general AI chatbots may provide incorrect, incomplete, or unreliable answers. In healthcare, such misinformation can lead to poor decisions. Most existing systems do not retrieve information from trusted medical sources before generating responses.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project aims to solve this problem by developing a RAG-based (Retrieval-Augmented Generation) Medical Question Answering Assistant that retrieves relevant information from trusted medical datasets before generating accurate, reliable, and source-supported medical answers.</a:t>
            </a:r>
          </a:p>
          <a:p>
            <a:pPr>
              <a:buNone/>
            </a:pPr>
            <a:endParaRPr lang="en-IN"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15616" y="154134"/>
            <a:ext cx="780863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4" name="Rectangle 1">
            <a:extLst>
              <a:ext uri="{FF2B5EF4-FFF2-40B4-BE49-F238E27FC236}">
                <a16:creationId xmlns:a16="http://schemas.microsoft.com/office/drawing/2014/main" id="{DB9EB04F-FECD-A212-E715-01E5112D3C81}"/>
              </a:ext>
            </a:extLst>
          </p:cNvPr>
          <p:cNvSpPr>
            <a:spLocks noChangeArrowheads="1"/>
          </p:cNvSpPr>
          <p:nvPr/>
        </p:nvSpPr>
        <p:spPr bwMode="auto">
          <a:xfrm>
            <a:off x="447869" y="1403676"/>
            <a:ext cx="1174413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latin typeface="Times New Roman" panose="02020603050405020304" pitchFamily="18" charset="0"/>
                <a:cs typeface="Times New Roman" panose="02020603050405020304" pitchFamily="18" charset="0"/>
              </a:rPr>
              <a:t>The main objectives of this project are:</a:t>
            </a:r>
          </a:p>
          <a:p>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develop a RAG-based Medical Question Answering Assistant.</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use the MedQuAD dataset as a trusted medical knowledge base.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generate semantic embeddings using </a:t>
            </a:r>
            <a:r>
              <a:rPr lang="en-IN" dirty="0" err="1">
                <a:latin typeface="Times New Roman" panose="02020603050405020304" pitchFamily="18" charset="0"/>
                <a:cs typeface="Times New Roman" panose="02020603050405020304" pitchFamily="18" charset="0"/>
              </a:rPr>
              <a:t>BioBERT</a:t>
            </a:r>
            <a:r>
              <a:rPr lang="en-IN"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retrieve relevant medical information using FAISS.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generate accurate and context-aware responses using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and an LLM.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reduce AI hallucinations by retrieving trusted medical information before answering.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provide source references for better reliability and transparency.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develop a simple, responsive, and user-friendly web application.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Literacy survey</a:t>
            </a:r>
          </a:p>
        </p:txBody>
      </p:sp>
      <p:graphicFrame>
        <p:nvGraphicFramePr>
          <p:cNvPr id="6" name="Table 5">
            <a:extLst>
              <a:ext uri="{FF2B5EF4-FFF2-40B4-BE49-F238E27FC236}">
                <a16:creationId xmlns:a16="http://schemas.microsoft.com/office/drawing/2014/main" id="{9E5B9AAD-FC66-46ED-B0D8-5BFB371C7B6F}"/>
              </a:ext>
            </a:extLst>
          </p:cNvPr>
          <p:cNvGraphicFramePr>
            <a:graphicFrameLocks noGrp="1"/>
          </p:cNvGraphicFramePr>
          <p:nvPr>
            <p:extLst>
              <p:ext uri="{D42A27DB-BD31-4B8C-83A1-F6EECF244321}">
                <p14:modId xmlns:p14="http://schemas.microsoft.com/office/powerpoint/2010/main" val="2080299938"/>
              </p:ext>
            </p:extLst>
          </p:nvPr>
        </p:nvGraphicFramePr>
        <p:xfrm>
          <a:off x="1097900" y="1431299"/>
          <a:ext cx="9660296" cy="4966056"/>
        </p:xfrm>
        <a:graphic>
          <a:graphicData uri="http://schemas.openxmlformats.org/drawingml/2006/table">
            <a:tbl>
              <a:tblPr>
                <a:tableStyleId>{5C22544A-7EE6-4342-B048-85BDC9FD1C3A}</a:tableStyleId>
              </a:tblPr>
              <a:tblGrid>
                <a:gridCol w="2415074">
                  <a:extLst>
                    <a:ext uri="{9D8B030D-6E8A-4147-A177-3AD203B41FA5}">
                      <a16:colId xmlns:a16="http://schemas.microsoft.com/office/drawing/2014/main" val="3740014946"/>
                    </a:ext>
                  </a:extLst>
                </a:gridCol>
                <a:gridCol w="2415074">
                  <a:extLst>
                    <a:ext uri="{9D8B030D-6E8A-4147-A177-3AD203B41FA5}">
                      <a16:colId xmlns:a16="http://schemas.microsoft.com/office/drawing/2014/main" val="2527634954"/>
                    </a:ext>
                  </a:extLst>
                </a:gridCol>
                <a:gridCol w="2415074">
                  <a:extLst>
                    <a:ext uri="{9D8B030D-6E8A-4147-A177-3AD203B41FA5}">
                      <a16:colId xmlns:a16="http://schemas.microsoft.com/office/drawing/2014/main" val="3740456712"/>
                    </a:ext>
                  </a:extLst>
                </a:gridCol>
                <a:gridCol w="2415074">
                  <a:extLst>
                    <a:ext uri="{9D8B030D-6E8A-4147-A177-3AD203B41FA5}">
                      <a16:colId xmlns:a16="http://schemas.microsoft.com/office/drawing/2014/main" val="1994384583"/>
                    </a:ext>
                  </a:extLst>
                </a:gridCol>
              </a:tblGrid>
              <a:tr h="557018">
                <a:tc>
                  <a:txBody>
                    <a:bodyPr/>
                    <a:lstStyle/>
                    <a:p>
                      <a:pPr>
                        <a:lnSpc>
                          <a:spcPct val="150000"/>
                        </a:lnSpc>
                        <a:buNone/>
                      </a:pPr>
                      <a:r>
                        <a:rPr lang="en-IN" sz="1300" b="1" dirty="0"/>
                        <a:t>Research Paper</a:t>
                      </a:r>
                    </a:p>
                    <a:p>
                      <a:pPr>
                        <a:lnSpc>
                          <a:spcPct val="150000"/>
                        </a:lnSpc>
                        <a:buNone/>
                      </a:pPr>
                      <a:endParaRPr lang="en-IN" sz="1300" dirty="0"/>
                    </a:p>
                  </a:txBody>
                  <a:tcPr marL="65929" marR="65929" marT="32965" marB="32965" anchor="ctr"/>
                </a:tc>
                <a:tc>
                  <a:txBody>
                    <a:bodyPr/>
                    <a:lstStyle/>
                    <a:p>
                      <a:pPr>
                        <a:lnSpc>
                          <a:spcPct val="150000"/>
                        </a:lnSpc>
                        <a:buNone/>
                      </a:pPr>
                      <a:r>
                        <a:rPr lang="en-IN" sz="1300" b="1"/>
                        <a:t>Techniques Used</a:t>
                      </a:r>
                      <a:endParaRPr lang="en-IN" sz="1300" dirty="0"/>
                    </a:p>
                  </a:txBody>
                  <a:tcPr marL="65929" marR="65929" marT="32965" marB="32965" anchor="ctr"/>
                </a:tc>
                <a:tc>
                  <a:txBody>
                    <a:bodyPr/>
                    <a:lstStyle/>
                    <a:p>
                      <a:pPr>
                        <a:lnSpc>
                          <a:spcPct val="150000"/>
                        </a:lnSpc>
                        <a:buNone/>
                      </a:pPr>
                      <a:r>
                        <a:rPr lang="en-IN" sz="1300" b="1"/>
                        <a:t>Purpose</a:t>
                      </a:r>
                      <a:endParaRPr lang="en-IN" sz="1300"/>
                    </a:p>
                  </a:txBody>
                  <a:tcPr marL="65929" marR="65929" marT="32965" marB="32965" anchor="ctr"/>
                </a:tc>
                <a:tc>
                  <a:txBody>
                    <a:bodyPr/>
                    <a:lstStyle/>
                    <a:p>
                      <a:pPr>
                        <a:lnSpc>
                          <a:spcPct val="150000"/>
                        </a:lnSpc>
                        <a:buNone/>
                      </a:pPr>
                      <a:r>
                        <a:rPr lang="en-IN" sz="1300" b="1"/>
                        <a:t>Limitation</a:t>
                      </a:r>
                      <a:endParaRPr lang="en-IN" sz="1300" dirty="0"/>
                    </a:p>
                  </a:txBody>
                  <a:tcPr marL="65929" marR="65929" marT="32965" marB="32965" anchor="ctr"/>
                </a:tc>
                <a:extLst>
                  <a:ext uri="{0D108BD9-81ED-4DB2-BD59-A6C34878D82A}">
                    <a16:rowId xmlns:a16="http://schemas.microsoft.com/office/drawing/2014/main" val="2742706448"/>
                  </a:ext>
                </a:extLst>
              </a:tr>
              <a:tr h="819957">
                <a:tc>
                  <a:txBody>
                    <a:bodyPr/>
                    <a:lstStyle/>
                    <a:p>
                      <a:pPr>
                        <a:lnSpc>
                          <a:spcPct val="150000"/>
                        </a:lnSpc>
                        <a:buNone/>
                      </a:pPr>
                      <a:r>
                        <a:rPr lang="en-IN" sz="1300" b="1" dirty="0" err="1"/>
                        <a:t>BioBERT</a:t>
                      </a:r>
                      <a:r>
                        <a:rPr lang="en-IN" sz="1300" b="1" dirty="0"/>
                        <a:t>: A Pre-trained Biomedical Language Representation Model (2019)</a:t>
                      </a:r>
                      <a:endParaRPr lang="en-IN" sz="1300" dirty="0"/>
                    </a:p>
                  </a:txBody>
                  <a:tcPr marL="65929" marR="65929" marT="32965" marB="32965" anchor="ctr"/>
                </a:tc>
                <a:tc>
                  <a:txBody>
                    <a:bodyPr/>
                    <a:lstStyle/>
                    <a:p>
                      <a:pPr>
                        <a:lnSpc>
                          <a:spcPct val="150000"/>
                        </a:lnSpc>
                        <a:buNone/>
                      </a:pPr>
                      <a:r>
                        <a:rPr lang="en-IN" sz="1300" dirty="0" err="1"/>
                        <a:t>BioBERT</a:t>
                      </a:r>
                      <a:r>
                        <a:rPr lang="en-IN" sz="1300" dirty="0"/>
                        <a:t>, NLP</a:t>
                      </a:r>
                    </a:p>
                  </a:txBody>
                  <a:tcPr marL="65929" marR="65929" marT="32965" marB="32965" anchor="ctr"/>
                </a:tc>
                <a:tc>
                  <a:txBody>
                    <a:bodyPr/>
                    <a:lstStyle/>
                    <a:p>
                      <a:pPr>
                        <a:lnSpc>
                          <a:spcPct val="150000"/>
                        </a:lnSpc>
                        <a:buNone/>
                      </a:pPr>
                      <a:r>
                        <a:rPr lang="en-IN" sz="1300"/>
                        <a:t>Understands biomedical text and improves medical NLP tasks.</a:t>
                      </a:r>
                    </a:p>
                  </a:txBody>
                  <a:tcPr marL="65929" marR="65929" marT="32965" marB="32965" anchor="ctr"/>
                </a:tc>
                <a:tc>
                  <a:txBody>
                    <a:bodyPr/>
                    <a:lstStyle/>
                    <a:p>
                      <a:pPr>
                        <a:lnSpc>
                          <a:spcPct val="150000"/>
                        </a:lnSpc>
                        <a:buNone/>
                      </a:pPr>
                      <a:r>
                        <a:rPr lang="en-IN" sz="1300"/>
                        <a:t>Does not retrieve medical documents or use RAG.</a:t>
                      </a:r>
                      <a:endParaRPr lang="en-IN" sz="1300" dirty="0"/>
                    </a:p>
                  </a:txBody>
                  <a:tcPr marL="65929" marR="65929" marT="32965" marB="32965" anchor="ctr"/>
                </a:tc>
                <a:extLst>
                  <a:ext uri="{0D108BD9-81ED-4DB2-BD59-A6C34878D82A}">
                    <a16:rowId xmlns:a16="http://schemas.microsoft.com/office/drawing/2014/main" val="2377232246"/>
                  </a:ext>
                </a:extLst>
              </a:tr>
              <a:tr h="819957">
                <a:tc>
                  <a:txBody>
                    <a:bodyPr/>
                    <a:lstStyle/>
                    <a:p>
                      <a:pPr>
                        <a:lnSpc>
                          <a:spcPct val="150000"/>
                        </a:lnSpc>
                        <a:buNone/>
                      </a:pPr>
                      <a:r>
                        <a:rPr lang="en-IN" sz="1300" b="1"/>
                        <a:t>Pre-trained Language Model for Biomedical Question Answering (2019)</a:t>
                      </a:r>
                      <a:endParaRPr lang="en-IN" sz="1300" dirty="0"/>
                    </a:p>
                  </a:txBody>
                  <a:tcPr marL="65929" marR="65929" marT="32965" marB="32965" anchor="ctr"/>
                </a:tc>
                <a:tc>
                  <a:txBody>
                    <a:bodyPr/>
                    <a:lstStyle/>
                    <a:p>
                      <a:pPr>
                        <a:lnSpc>
                          <a:spcPct val="150000"/>
                        </a:lnSpc>
                        <a:buNone/>
                      </a:pPr>
                      <a:r>
                        <a:rPr lang="en-IN" sz="1300"/>
                        <a:t>BioBERT, Fine-tuning</a:t>
                      </a:r>
                      <a:endParaRPr lang="en-IN" sz="1300" dirty="0"/>
                    </a:p>
                  </a:txBody>
                  <a:tcPr marL="65929" marR="65929" marT="32965" marB="32965" anchor="ctr"/>
                </a:tc>
                <a:tc>
                  <a:txBody>
                    <a:bodyPr/>
                    <a:lstStyle/>
                    <a:p>
                      <a:pPr>
                        <a:lnSpc>
                          <a:spcPct val="150000"/>
                        </a:lnSpc>
                        <a:buNone/>
                      </a:pPr>
                      <a:r>
                        <a:rPr lang="en-IN" sz="1300"/>
                        <a:t>Answers biomedical questions using the BioASQ dataset.</a:t>
                      </a:r>
                      <a:endParaRPr lang="en-IN" sz="1300" dirty="0"/>
                    </a:p>
                  </a:txBody>
                  <a:tcPr marL="65929" marR="65929" marT="32965" marB="32965" anchor="ctr"/>
                </a:tc>
                <a:tc>
                  <a:txBody>
                    <a:bodyPr/>
                    <a:lstStyle/>
                    <a:p>
                      <a:pPr>
                        <a:lnSpc>
                          <a:spcPct val="150000"/>
                        </a:lnSpc>
                        <a:buNone/>
                      </a:pPr>
                      <a:r>
                        <a:rPr lang="en-IN" sz="1300"/>
                        <a:t>No semantic retrieval or source citations.</a:t>
                      </a:r>
                      <a:endParaRPr lang="en-IN" sz="1300" dirty="0"/>
                    </a:p>
                  </a:txBody>
                  <a:tcPr marL="65929" marR="65929" marT="32965" marB="32965" anchor="ctr"/>
                </a:tc>
                <a:extLst>
                  <a:ext uri="{0D108BD9-81ED-4DB2-BD59-A6C34878D82A}">
                    <a16:rowId xmlns:a16="http://schemas.microsoft.com/office/drawing/2014/main" val="201220958"/>
                  </a:ext>
                </a:extLst>
              </a:tr>
              <a:tr h="819957">
                <a:tc>
                  <a:txBody>
                    <a:bodyPr/>
                    <a:lstStyle/>
                    <a:p>
                      <a:pPr>
                        <a:lnSpc>
                          <a:spcPct val="150000"/>
                        </a:lnSpc>
                        <a:buNone/>
                      </a:pPr>
                      <a:r>
                        <a:rPr lang="en-IN" sz="1300" b="1"/>
                        <a:t>Towards Physician-Level Medical Question Answering with LLMs (Med-PaLM, 2023)</a:t>
                      </a:r>
                      <a:endParaRPr lang="en-IN" sz="1300"/>
                    </a:p>
                  </a:txBody>
                  <a:tcPr marL="65929" marR="65929" marT="32965" marB="32965" anchor="ctr"/>
                </a:tc>
                <a:tc>
                  <a:txBody>
                    <a:bodyPr/>
                    <a:lstStyle/>
                    <a:p>
                      <a:pPr>
                        <a:lnSpc>
                          <a:spcPct val="150000"/>
                        </a:lnSpc>
                        <a:buNone/>
                      </a:pPr>
                      <a:r>
                        <a:rPr lang="en-IN" sz="1300"/>
                        <a:t>Large Language Model (LLM)</a:t>
                      </a:r>
                    </a:p>
                  </a:txBody>
                  <a:tcPr marL="65929" marR="65929" marT="32965" marB="32965" anchor="ctr"/>
                </a:tc>
                <a:tc>
                  <a:txBody>
                    <a:bodyPr/>
                    <a:lstStyle/>
                    <a:p>
                      <a:pPr>
                        <a:lnSpc>
                          <a:spcPct val="150000"/>
                        </a:lnSpc>
                        <a:buNone/>
                      </a:pPr>
                      <a:r>
                        <a:rPr lang="en-IN" sz="1300"/>
                        <a:t>Generates medical answers with high accuracy.</a:t>
                      </a:r>
                    </a:p>
                  </a:txBody>
                  <a:tcPr marL="65929" marR="65929" marT="32965" marB="32965" anchor="ctr"/>
                </a:tc>
                <a:tc>
                  <a:txBody>
                    <a:bodyPr/>
                    <a:lstStyle/>
                    <a:p>
                      <a:pPr>
                        <a:lnSpc>
                          <a:spcPct val="150000"/>
                        </a:lnSpc>
                        <a:buNone/>
                      </a:pPr>
                      <a:r>
                        <a:rPr lang="en-IN" sz="1300"/>
                        <a:t>Proprietary and requires high computational resources.</a:t>
                      </a:r>
                      <a:endParaRPr lang="en-IN" sz="1300" dirty="0"/>
                    </a:p>
                  </a:txBody>
                  <a:tcPr marL="65929" marR="65929" marT="32965" marB="32965" anchor="ctr"/>
                </a:tc>
                <a:extLst>
                  <a:ext uri="{0D108BD9-81ED-4DB2-BD59-A6C34878D82A}">
                    <a16:rowId xmlns:a16="http://schemas.microsoft.com/office/drawing/2014/main" val="1815655940"/>
                  </a:ext>
                </a:extLst>
              </a:tr>
              <a:tr h="819957">
                <a:tc>
                  <a:txBody>
                    <a:bodyPr/>
                    <a:lstStyle/>
                    <a:p>
                      <a:pPr>
                        <a:lnSpc>
                          <a:spcPct val="150000"/>
                        </a:lnSpc>
                        <a:buNone/>
                      </a:pPr>
                      <a:r>
                        <a:rPr lang="en-IN" sz="1300" b="1"/>
                        <a:t>Improving Retrieval-Augmented Generation in Medicine (i-MedRAG, 2024)</a:t>
                      </a:r>
                      <a:endParaRPr lang="en-IN" sz="1300"/>
                    </a:p>
                  </a:txBody>
                  <a:tcPr marL="65929" marR="65929" marT="32965" marB="32965" anchor="ctr"/>
                </a:tc>
                <a:tc>
                  <a:txBody>
                    <a:bodyPr/>
                    <a:lstStyle/>
                    <a:p>
                      <a:pPr>
                        <a:lnSpc>
                          <a:spcPct val="150000"/>
                        </a:lnSpc>
                        <a:buNone/>
                      </a:pPr>
                      <a:r>
                        <a:rPr lang="en-IN" sz="1300"/>
                        <a:t>RAG, LLM</a:t>
                      </a:r>
                    </a:p>
                  </a:txBody>
                  <a:tcPr marL="65929" marR="65929" marT="32965" marB="32965" anchor="ctr"/>
                </a:tc>
                <a:tc>
                  <a:txBody>
                    <a:bodyPr/>
                    <a:lstStyle/>
                    <a:p>
                      <a:pPr>
                        <a:lnSpc>
                          <a:spcPct val="150000"/>
                        </a:lnSpc>
                        <a:buNone/>
                      </a:pPr>
                      <a:r>
                        <a:rPr lang="en-IN" sz="1300"/>
                        <a:t>Improves medical question answering using retrieval.</a:t>
                      </a:r>
                    </a:p>
                  </a:txBody>
                  <a:tcPr marL="65929" marR="65929" marT="32965" marB="32965" anchor="ctr"/>
                </a:tc>
                <a:tc>
                  <a:txBody>
                    <a:bodyPr/>
                    <a:lstStyle/>
                    <a:p>
                      <a:pPr>
                        <a:lnSpc>
                          <a:spcPct val="150000"/>
                        </a:lnSpc>
                        <a:buNone/>
                      </a:pPr>
                      <a:r>
                        <a:rPr lang="en-IN" sz="1300"/>
                        <a:t>Complex architecture and higher processing time.</a:t>
                      </a:r>
                      <a:endParaRPr lang="en-IN" sz="1300" dirty="0"/>
                    </a:p>
                  </a:txBody>
                  <a:tcPr marL="65929" marR="65929" marT="32965" marB="32965" anchor="ctr"/>
                </a:tc>
                <a:extLst>
                  <a:ext uri="{0D108BD9-81ED-4DB2-BD59-A6C34878D82A}">
                    <a16:rowId xmlns:a16="http://schemas.microsoft.com/office/drawing/2014/main" val="3042119653"/>
                  </a:ext>
                </a:extLst>
              </a:tr>
              <a:tr h="557018">
                <a:tc>
                  <a:txBody>
                    <a:bodyPr/>
                    <a:lstStyle/>
                    <a:p>
                      <a:pPr>
                        <a:lnSpc>
                          <a:spcPct val="150000"/>
                        </a:lnSpc>
                        <a:buNone/>
                      </a:pPr>
                      <a:r>
                        <a:rPr lang="en-IN" sz="1300" b="1"/>
                        <a:t>Efficient Biomedical Question Answering using RAG (2025)</a:t>
                      </a:r>
                      <a:endParaRPr lang="en-IN" sz="1300" dirty="0"/>
                    </a:p>
                  </a:txBody>
                  <a:tcPr marL="65929" marR="65929" marT="32965" marB="32965" anchor="ctr"/>
                </a:tc>
                <a:tc>
                  <a:txBody>
                    <a:bodyPr/>
                    <a:lstStyle/>
                    <a:p>
                      <a:pPr>
                        <a:lnSpc>
                          <a:spcPct val="150000"/>
                        </a:lnSpc>
                        <a:buNone/>
                      </a:pPr>
                      <a:r>
                        <a:rPr lang="en-IN" sz="1300"/>
                        <a:t>RAG, FAISS, BioBERT</a:t>
                      </a:r>
                      <a:endParaRPr lang="en-IN" sz="1300" dirty="0"/>
                    </a:p>
                  </a:txBody>
                  <a:tcPr marL="65929" marR="65929" marT="32965" marB="32965" anchor="ctr"/>
                </a:tc>
                <a:tc>
                  <a:txBody>
                    <a:bodyPr/>
                    <a:lstStyle/>
                    <a:p>
                      <a:pPr>
                        <a:lnSpc>
                          <a:spcPct val="150000"/>
                        </a:lnSpc>
                        <a:buNone/>
                      </a:pPr>
                      <a:r>
                        <a:rPr lang="en-IN" sz="1300"/>
                        <a:t>Retrieves relevant medical information before answering.</a:t>
                      </a:r>
                    </a:p>
                  </a:txBody>
                  <a:tcPr marL="65929" marR="65929" marT="32965" marB="32965" anchor="ctr"/>
                </a:tc>
                <a:tc>
                  <a:txBody>
                    <a:bodyPr/>
                    <a:lstStyle/>
                    <a:p>
                      <a:pPr>
                        <a:lnSpc>
                          <a:spcPct val="150000"/>
                        </a:lnSpc>
                        <a:buNone/>
                      </a:pPr>
                      <a:r>
                        <a:rPr lang="en-IN" sz="1300" dirty="0"/>
                        <a:t>Research-focused; not a complete web application.</a:t>
                      </a:r>
                    </a:p>
                  </a:txBody>
                  <a:tcPr marL="65929" marR="65929" marT="32965" marB="32965" anchor="ctr"/>
                </a:tc>
                <a:extLst>
                  <a:ext uri="{0D108BD9-81ED-4DB2-BD59-A6C34878D82A}">
                    <a16:rowId xmlns:a16="http://schemas.microsoft.com/office/drawing/2014/main" val="3847429240"/>
                  </a:ext>
                </a:extLst>
              </a:tr>
            </a:tbl>
          </a:graphicData>
        </a:graphic>
      </p:graphicFrame>
      <p:graphicFrame>
        <p:nvGraphicFramePr>
          <p:cNvPr id="10" name="Table 9">
            <a:extLst>
              <a:ext uri="{FF2B5EF4-FFF2-40B4-BE49-F238E27FC236}">
                <a16:creationId xmlns:a16="http://schemas.microsoft.com/office/drawing/2014/main" id="{799C727E-6180-1A74-BD5B-383FB865FC62}"/>
              </a:ext>
            </a:extLst>
          </p:cNvPr>
          <p:cNvGraphicFramePr>
            <a:graphicFrameLocks noGrp="1"/>
          </p:cNvGraphicFramePr>
          <p:nvPr>
            <p:extLst>
              <p:ext uri="{D42A27DB-BD31-4B8C-83A1-F6EECF244321}">
                <p14:modId xmlns:p14="http://schemas.microsoft.com/office/powerpoint/2010/main" val="1575356176"/>
              </p:ext>
            </p:extLst>
          </p:nvPr>
        </p:nvGraphicFramePr>
        <p:xfrm>
          <a:off x="1097900" y="1060459"/>
          <a:ext cx="9660295" cy="370840"/>
        </p:xfrm>
        <a:graphic>
          <a:graphicData uri="http://schemas.openxmlformats.org/drawingml/2006/table">
            <a:tbl>
              <a:tblPr firstRow="1" bandRow="1">
                <a:tableStyleId>{5C22544A-7EE6-4342-B048-85BDC9FD1C3A}</a:tableStyleId>
              </a:tblPr>
              <a:tblGrid>
                <a:gridCol w="9660295">
                  <a:extLst>
                    <a:ext uri="{9D8B030D-6E8A-4147-A177-3AD203B41FA5}">
                      <a16:colId xmlns:a16="http://schemas.microsoft.com/office/drawing/2014/main" val="2123066867"/>
                    </a:ext>
                  </a:extLst>
                </a:gridCol>
              </a:tblGrid>
              <a:tr h="370840">
                <a:tc>
                  <a:txBody>
                    <a:bodyPr/>
                    <a:lstStyle/>
                    <a:p>
                      <a:endParaRPr lang="en-IN" dirty="0"/>
                    </a:p>
                  </a:txBody>
                  <a:tcPr/>
                </a:tc>
                <a:extLst>
                  <a:ext uri="{0D108BD9-81ED-4DB2-BD59-A6C34878D82A}">
                    <a16:rowId xmlns:a16="http://schemas.microsoft.com/office/drawing/2014/main" val="147826397"/>
                  </a:ext>
                </a:extLst>
              </a:tr>
            </a:tbl>
          </a:graphicData>
        </a:graphic>
      </p:graphicFrame>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E8EB32-DFB9-70B5-2C1A-00074CFA6681}"/>
              </a:ext>
            </a:extLst>
          </p:cNvPr>
          <p:cNvSpPr>
            <a:spLocks noChangeArrowheads="1"/>
          </p:cNvSpPr>
          <p:nvPr/>
        </p:nvSpPr>
        <p:spPr bwMode="auto">
          <a:xfrm>
            <a:off x="662472" y="3017534"/>
            <a:ext cx="10363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C5EB7DA5-C0A9-6F74-966A-208A7A1C1A93}"/>
              </a:ext>
            </a:extLst>
          </p:cNvPr>
          <p:cNvSpPr txBox="1"/>
          <p:nvPr/>
        </p:nvSpPr>
        <p:spPr>
          <a:xfrm>
            <a:off x="541173" y="1056907"/>
            <a:ext cx="6634067" cy="233910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Research Gap Identification</a:t>
            </a:r>
          </a:p>
          <a:p>
            <a:pPr>
              <a:buNone/>
            </a:pPr>
            <a:r>
              <a:rPr lang="en-IN" sz="1600" dirty="0">
                <a:latin typeface="Times New Roman" panose="02020603050405020304" pitchFamily="18" charset="0"/>
                <a:cs typeface="Times New Roman" panose="02020603050405020304" pitchFamily="18" charset="0"/>
              </a:rPr>
              <a:t>From the literature survey, the following research gaps were identified:</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Existing systems may generate incorrect or unsupported medical responses.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Many models do not retrieve information from trusted medical datasets before answering.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Most systems do not provide source references for generated answers.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Several solutions are research-focused and not suitable for everyday users.</a:t>
            </a:r>
          </a:p>
        </p:txBody>
      </p:sp>
      <p:sp>
        <p:nvSpPr>
          <p:cNvPr id="9" name="TextBox 8">
            <a:extLst>
              <a:ext uri="{FF2B5EF4-FFF2-40B4-BE49-F238E27FC236}">
                <a16:creationId xmlns:a16="http://schemas.microsoft.com/office/drawing/2014/main" id="{7644C301-2406-4BDF-09A1-8EA3C1CEC91B}"/>
              </a:ext>
            </a:extLst>
          </p:cNvPr>
          <p:cNvSpPr txBox="1"/>
          <p:nvPr/>
        </p:nvSpPr>
        <p:spPr>
          <a:xfrm>
            <a:off x="601821" y="3776484"/>
            <a:ext cx="6512769" cy="258532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Innovation</a:t>
            </a:r>
          </a:p>
          <a:p>
            <a:pPr>
              <a:buNone/>
            </a:pPr>
            <a:r>
              <a:rPr lang="en-IN" sz="1600" dirty="0">
                <a:latin typeface="Times New Roman" panose="02020603050405020304" pitchFamily="18" charset="0"/>
                <a:cs typeface="Times New Roman" panose="02020603050405020304" pitchFamily="18" charset="0"/>
              </a:rPr>
              <a:t>The proposed system introduces:</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Retrieval-Augmented Generation (RAG) for reliable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embeddings for better understanding of medical terminology.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vector search for fast semantic retrieval.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Source-supported responses using trusted medical datasets.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 interactive web application with login, search history, and modern UI.</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F3910A-D3E5-22FF-9AC2-A77556426F36}"/>
              </a:ext>
            </a:extLst>
          </p:cNvPr>
          <p:cNvSpPr txBox="1"/>
          <p:nvPr/>
        </p:nvSpPr>
        <p:spPr>
          <a:xfrm>
            <a:off x="641480" y="1450253"/>
            <a:ext cx="7177573" cy="3539430"/>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Creativity</a:t>
            </a:r>
          </a:p>
          <a:p>
            <a:pPr>
              <a:buNone/>
            </a:pPr>
            <a:r>
              <a:rPr lang="en-IN" sz="1600" dirty="0">
                <a:latin typeface="Times New Roman" panose="02020603050405020304" pitchFamily="18" charset="0"/>
                <a:cs typeface="Times New Roman" panose="02020603050405020304" pitchFamily="18" charset="0"/>
              </a:rPr>
              <a:t>The project combines modern AI technologies with a user-friendly healthcare platform.</a:t>
            </a:r>
          </a:p>
          <a:p>
            <a:pPr>
              <a:buNone/>
            </a:pPr>
            <a:endParaRPr lang="en-IN" sz="1600" dirty="0">
              <a:latin typeface="Times New Roman" panose="02020603050405020304" pitchFamily="18" charset="0"/>
              <a:cs typeface="Times New Roman" panose="02020603050405020304" pitchFamily="18" charset="0"/>
            </a:endParaRPr>
          </a:p>
          <a:p>
            <a:pPr>
              <a:buNone/>
            </a:pPr>
            <a:r>
              <a:rPr lang="en-IN" sz="1600" dirty="0">
                <a:latin typeface="Times New Roman" panose="02020603050405020304" pitchFamily="18" charset="0"/>
                <a:cs typeface="Times New Roman" panose="02020603050405020304" pitchFamily="18" charset="0"/>
              </a:rPr>
              <a:t>Key creative features include:</a:t>
            </a:r>
          </a:p>
          <a:p>
            <a:pPr>
              <a:buNone/>
            </a:pP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AI-assisted medical question answering.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Glassmorphism</a:t>
            </a:r>
            <a:r>
              <a:rPr lang="en-IN" sz="1600" dirty="0">
                <a:latin typeface="Times New Roman" panose="02020603050405020304" pitchFamily="18" charset="0"/>
                <a:cs typeface="Times New Roman" panose="02020603050405020304" pitchFamily="18" charset="0"/>
              </a:rPr>
              <a:t>-based responsive interface.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Suggested medical questions.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Search history.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Source citations.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Medical disclaimer.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Emergency warning for critical symptoms.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Dark/Light mode support.</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F00390-288F-1C85-A34B-30E7BA4BC94D}"/>
              </a:ext>
            </a:extLst>
          </p:cNvPr>
          <p:cNvSpPr txBox="1"/>
          <p:nvPr/>
        </p:nvSpPr>
        <p:spPr>
          <a:xfrm>
            <a:off x="417545" y="1290172"/>
            <a:ext cx="7093598" cy="3741409"/>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Novelty</a:t>
            </a:r>
          </a:p>
          <a:p>
            <a:pPr>
              <a:lnSpc>
                <a:spcPct val="150000"/>
              </a:lnSpc>
              <a:buNone/>
            </a:pPr>
            <a:r>
              <a:rPr lang="en-IN" sz="1600" dirty="0">
                <a:latin typeface="Times New Roman" panose="02020603050405020304" pitchFamily="18" charset="0"/>
                <a:cs typeface="Times New Roman" panose="02020603050405020304" pitchFamily="18" charset="0"/>
              </a:rPr>
              <a:t>The uniqueness of this project lies in integrating:</a:t>
            </a:r>
          </a:p>
          <a:p>
            <a:pPr>
              <a:lnSpc>
                <a:spcPct val="150000"/>
              </a:lnSpc>
              <a:buNone/>
            </a:pPr>
            <a:endParaRPr lang="en-IN" sz="16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for biomedical language understanding.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FAISS for semantic document retrieval. </a:t>
            </a:r>
          </a:p>
          <a:p>
            <a:pPr marL="342900" lvl="0" indent="-342900">
              <a:lnSpc>
                <a:spcPct val="150000"/>
              </a:lnSpc>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for RAG workflow management.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Large Language Models for response generation.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Trusted medical datasets with source citations.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 complete web-based medical assistant instead of a standalone research model. </a:t>
            </a:r>
          </a:p>
          <a:p>
            <a:pPr>
              <a:lnSpc>
                <a:spcPct val="150000"/>
              </a:lnSpc>
              <a:buNone/>
            </a:pPr>
            <a:r>
              <a:rPr lang="en-IN" sz="1600" dirty="0">
                <a:latin typeface="Times New Roman" panose="02020603050405020304" pitchFamily="18" charset="0"/>
                <a:cs typeface="Times New Roman" panose="02020603050405020304" pitchFamily="18" charset="0"/>
              </a:rPr>
              <a:t>This combination improves answer accuracy, transparency, and user trust.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0E39-C34F-2D90-E757-2B5373BF5544}"/>
              </a:ext>
            </a:extLst>
          </p:cNvPr>
          <p:cNvSpPr txBox="1"/>
          <p:nvPr/>
        </p:nvSpPr>
        <p:spPr>
          <a:xfrm>
            <a:off x="856083" y="977310"/>
            <a:ext cx="6664390" cy="5218736"/>
          </a:xfrm>
          <a:prstGeom prst="rect">
            <a:avLst/>
          </a:prstGeom>
          <a:noFill/>
        </p:spPr>
        <p:txBody>
          <a:bodyPr wrap="square">
            <a:spAutoFit/>
          </a:bodyPr>
          <a:lstStyle/>
          <a:p>
            <a:pPr>
              <a:lnSpc>
                <a:spcPct val="150000"/>
              </a:lnSpc>
              <a:buNone/>
            </a:pPr>
            <a:r>
              <a:rPr lang="en-IN" sz="1600" b="1" dirty="0">
                <a:latin typeface="Times New Roman" panose="02020603050405020304" pitchFamily="18" charset="0"/>
                <a:cs typeface="Times New Roman" panose="02020603050405020304" pitchFamily="18" charset="0"/>
              </a:rPr>
              <a:t>Feasibility</a:t>
            </a:r>
          </a:p>
          <a:p>
            <a:pPr>
              <a:lnSpc>
                <a:spcPct val="150000"/>
              </a:lnSpc>
              <a:buNone/>
            </a:pPr>
            <a:r>
              <a:rPr lang="en-IN" sz="1600" dirty="0">
                <a:latin typeface="Times New Roman" panose="02020603050405020304" pitchFamily="18" charset="0"/>
                <a:cs typeface="Times New Roman" panose="02020603050405020304" pitchFamily="18" charset="0"/>
              </a:rPr>
              <a:t>The project is feasible because:</a:t>
            </a:r>
          </a:p>
          <a:p>
            <a:pPr>
              <a:lnSpc>
                <a:spcPct val="150000"/>
              </a:lnSpc>
              <a:buNone/>
            </a:pPr>
            <a:r>
              <a:rPr lang="en-IN" sz="1600" b="1" dirty="0">
                <a:latin typeface="Times New Roman" panose="02020603050405020304" pitchFamily="18" charset="0"/>
                <a:cs typeface="Times New Roman" panose="02020603050405020304" pitchFamily="18" charset="0"/>
              </a:rPr>
              <a:t>Technical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such as Python, Flask,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BioBERT</a:t>
            </a:r>
            <a:r>
              <a:rPr lang="en-IN" sz="1600" dirty="0">
                <a:latin typeface="Times New Roman" panose="02020603050405020304" pitchFamily="18" charset="0"/>
                <a:cs typeface="Times New Roman" panose="02020603050405020304" pitchFamily="18" charset="0"/>
              </a:rPr>
              <a:t>, and FAISS.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MedQuAD dataset is publicly available.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be developed using standard software tools. </a:t>
            </a:r>
          </a:p>
          <a:p>
            <a:pPr>
              <a:lnSpc>
                <a:spcPct val="150000"/>
              </a:lnSpc>
              <a:buNone/>
            </a:pPr>
            <a:r>
              <a:rPr lang="en-IN" sz="1600" b="1" dirty="0">
                <a:latin typeface="Times New Roman" panose="02020603050405020304" pitchFamily="18" charset="0"/>
                <a:cs typeface="Times New Roman" panose="02020603050405020304" pitchFamily="18" charset="0"/>
              </a:rPr>
              <a:t>Economic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software or hardware is required.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freely available datasets and libraries. </a:t>
            </a:r>
          </a:p>
          <a:p>
            <a:pPr>
              <a:lnSpc>
                <a:spcPct val="150000"/>
              </a:lnSpc>
              <a:buNone/>
            </a:pPr>
            <a:r>
              <a:rPr lang="en-IN" sz="1600" b="1" dirty="0">
                <a:latin typeface="Times New Roman" panose="02020603050405020304" pitchFamily="18" charset="0"/>
                <a:cs typeface="Times New Roman" panose="02020603050405020304" pitchFamily="18" charset="0"/>
              </a:rPr>
              <a:t>Operational Feasibility</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to use through a simple web interface.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Suitable for students and general users. </a:t>
            </a:r>
          </a:p>
          <a:p>
            <a:pPr marL="342900" lvl="0" indent="-34290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Can run on a normal laptop.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08311" y="20291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flowchart</a:t>
            </a:r>
            <a:endParaRPr lang="en-US" dirty="0"/>
          </a:p>
        </p:txBody>
      </p:sp>
      <p:sp>
        <p:nvSpPr>
          <p:cNvPr id="3" name="TextBox 2"/>
          <p:cNvSpPr txBox="1"/>
          <p:nvPr/>
        </p:nvSpPr>
        <p:spPr>
          <a:xfrm>
            <a:off x="3994349" y="1453598"/>
            <a:ext cx="6871855" cy="584775"/>
          </a:xfrm>
          <a:prstGeom prst="rect">
            <a:avLst/>
          </a:prstGeom>
          <a:noFill/>
        </p:spPr>
        <p:txBody>
          <a:bodyPr wrap="square" rtlCol="0">
            <a:spAutoFit/>
          </a:bodyPr>
          <a:lstStyle/>
          <a:p>
            <a:pPr algn="ctr"/>
            <a:r>
              <a:rPr lang="en-US" sz="3200" b="1" dirty="0">
                <a:solidFill>
                  <a:schemeClr val="bg1"/>
                </a:solidFill>
              </a:rPr>
              <a:t>Flow Chart </a:t>
            </a:r>
          </a:p>
        </p:txBody>
      </p:sp>
      <p:pic>
        <p:nvPicPr>
          <p:cNvPr id="5" name="Picture 4">
            <a:extLst>
              <a:ext uri="{FF2B5EF4-FFF2-40B4-BE49-F238E27FC236}">
                <a16:creationId xmlns:a16="http://schemas.microsoft.com/office/drawing/2014/main" id="{2441381C-573C-5D75-4BC4-FD83B7D21857}"/>
              </a:ext>
            </a:extLst>
          </p:cNvPr>
          <p:cNvPicPr>
            <a:picLocks noChangeAspect="1"/>
          </p:cNvPicPr>
          <p:nvPr/>
        </p:nvPicPr>
        <p:blipFill>
          <a:blip r:embed="rId2"/>
          <a:stretch>
            <a:fillRect/>
          </a:stretch>
        </p:blipFill>
        <p:spPr>
          <a:xfrm>
            <a:off x="3508311" y="806448"/>
            <a:ext cx="4870579" cy="57032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8EC9D9-414E-5FB9-B24A-8B7685354E11}"/>
              </a:ext>
            </a:extLst>
          </p:cNvPr>
          <p:cNvGraphicFramePr>
            <a:graphicFrameLocks noGrp="1"/>
          </p:cNvGraphicFramePr>
          <p:nvPr>
            <p:extLst>
              <p:ext uri="{D42A27DB-BD31-4B8C-83A1-F6EECF244321}">
                <p14:modId xmlns:p14="http://schemas.microsoft.com/office/powerpoint/2010/main" val="3650351859"/>
              </p:ext>
            </p:extLst>
          </p:nvPr>
        </p:nvGraphicFramePr>
        <p:xfrm>
          <a:off x="1754156" y="1137031"/>
          <a:ext cx="8192277" cy="5094631"/>
        </p:xfrm>
        <a:graphic>
          <a:graphicData uri="http://schemas.openxmlformats.org/drawingml/2006/table">
            <a:tbl>
              <a:tblPr>
                <a:tableStyleId>{5C22544A-7EE6-4342-B048-85BDC9FD1C3A}</a:tableStyleId>
              </a:tblPr>
              <a:tblGrid>
                <a:gridCol w="2730759">
                  <a:extLst>
                    <a:ext uri="{9D8B030D-6E8A-4147-A177-3AD203B41FA5}">
                      <a16:colId xmlns:a16="http://schemas.microsoft.com/office/drawing/2014/main" val="3927649832"/>
                    </a:ext>
                  </a:extLst>
                </a:gridCol>
                <a:gridCol w="2730759">
                  <a:extLst>
                    <a:ext uri="{9D8B030D-6E8A-4147-A177-3AD203B41FA5}">
                      <a16:colId xmlns:a16="http://schemas.microsoft.com/office/drawing/2014/main" val="1600445934"/>
                    </a:ext>
                  </a:extLst>
                </a:gridCol>
                <a:gridCol w="2730759">
                  <a:extLst>
                    <a:ext uri="{9D8B030D-6E8A-4147-A177-3AD203B41FA5}">
                      <a16:colId xmlns:a16="http://schemas.microsoft.com/office/drawing/2014/main" val="3421306975"/>
                    </a:ext>
                  </a:extLst>
                </a:gridCol>
              </a:tblGrid>
              <a:tr h="169524">
                <a:tc>
                  <a:txBody>
                    <a:bodyPr/>
                    <a:lstStyle/>
                    <a:p>
                      <a:pPr>
                        <a:buNone/>
                      </a:pPr>
                      <a:endParaRPr lang="en-IN" sz="1100" b="1"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Activity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b="1"/>
                        <a:t>Description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41200723"/>
                  </a:ext>
                </a:extLst>
              </a:tr>
              <a:tr h="296941">
                <a:tc>
                  <a:txBody>
                    <a:bodyPr/>
                    <a:lstStyle/>
                    <a:p>
                      <a:pPr>
                        <a:buNone/>
                      </a:pPr>
                      <a:r>
                        <a:rPr lang="en-IN" sz="1100" b="1"/>
                        <a:t>Phase 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Requirement Analysis</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Identify the project objectives, scope, and user requirements.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430911486"/>
                  </a:ext>
                </a:extLst>
              </a:tr>
              <a:tr h="424359">
                <a:tc>
                  <a:txBody>
                    <a:bodyPr/>
                    <a:lstStyle/>
                    <a:p>
                      <a:pPr>
                        <a:buNone/>
                      </a:pPr>
                      <a:r>
                        <a:rPr lang="en-IN" sz="1100" b="1"/>
                        <a:t>Phase 2</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Literature Survey</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Study existing medical question answering systems and related research papers.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004652080"/>
                  </a:ext>
                </a:extLst>
              </a:tr>
              <a:tr h="424359">
                <a:tc>
                  <a:txBody>
                    <a:bodyPr/>
                    <a:lstStyle/>
                    <a:p>
                      <a:pPr>
                        <a:buNone/>
                      </a:pPr>
                      <a:r>
                        <a:rPr lang="en-IN" sz="1100" b="1" dirty="0"/>
                        <a:t>Phase 3</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Dataset Collection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Collect and understand the </a:t>
                      </a:r>
                      <a:r>
                        <a:rPr lang="en-IN" sz="1100" b="1"/>
                        <a:t>MedQuAD</a:t>
                      </a:r>
                      <a:r>
                        <a:rPr lang="en-IN" sz="1100"/>
                        <a:t> dataset for building the knowledge base.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916929128"/>
                  </a:ext>
                </a:extLst>
              </a:tr>
              <a:tr h="296941">
                <a:tc>
                  <a:txBody>
                    <a:bodyPr/>
                    <a:lstStyle/>
                    <a:p>
                      <a:pPr>
                        <a:buNone/>
                      </a:pPr>
                      <a:r>
                        <a:rPr lang="en-IN" sz="1100" b="1"/>
                        <a:t>Phase 4</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Data Preprocessing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Clean, organize, and prepare the dataset for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051988304"/>
                  </a:ext>
                </a:extLst>
              </a:tr>
              <a:tr h="296941">
                <a:tc>
                  <a:txBody>
                    <a:bodyPr/>
                    <a:lstStyle/>
                    <a:p>
                      <a:pPr>
                        <a:buNone/>
                      </a:pPr>
                      <a:r>
                        <a:rPr lang="en-IN" sz="1100" b="1"/>
                        <a:t>Phase 5</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BioBERT Embedding Generation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Convert medical text into semantic vector embeddings using BioBERT.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028098"/>
                  </a:ext>
                </a:extLst>
              </a:tr>
              <a:tr h="424359">
                <a:tc>
                  <a:txBody>
                    <a:bodyPr/>
                    <a:lstStyle/>
                    <a:p>
                      <a:pPr>
                        <a:buNone/>
                      </a:pPr>
                      <a:r>
                        <a:rPr lang="en-IN" sz="1100" b="1" dirty="0"/>
                        <a:t>Phase 6</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FAISS Vector Database Creation</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Store embeddings in FAISS to enable fast semantic similarity search.</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017510529"/>
                  </a:ext>
                </a:extLst>
              </a:tr>
              <a:tr h="551776">
                <a:tc>
                  <a:txBody>
                    <a:bodyPr/>
                    <a:lstStyle/>
                    <a:p>
                      <a:pPr>
                        <a:buNone/>
                      </a:pPr>
                      <a:r>
                        <a:rPr lang="en-IN" sz="1100" b="1"/>
                        <a:t>Phase 7</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RAG Pipeline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Integrate </a:t>
                      </a:r>
                      <a:r>
                        <a:rPr lang="en-IN" sz="1100" b="1"/>
                        <a:t>LangChain</a:t>
                      </a:r>
                      <a:r>
                        <a:rPr lang="en-IN" sz="1100"/>
                        <a:t> and the </a:t>
                      </a:r>
                      <a:r>
                        <a:rPr lang="en-IN" sz="1100" b="1"/>
                        <a:t>Large Language Model (LLM)</a:t>
                      </a:r>
                      <a:r>
                        <a:rPr lang="en-IN" sz="1100"/>
                        <a:t> to build the Retrieval-Augmented Generation pipeline.</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742730"/>
                  </a:ext>
                </a:extLst>
              </a:tr>
              <a:tr h="424359">
                <a:tc>
                  <a:txBody>
                    <a:bodyPr/>
                    <a:lstStyle/>
                    <a:p>
                      <a:pPr>
                        <a:buNone/>
                      </a:pPr>
                      <a:r>
                        <a:rPr lang="en-IN" sz="1100" b="1"/>
                        <a:t>Phase 8</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Frontend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Design and develop a responsive user interface using </a:t>
                      </a:r>
                      <a:r>
                        <a:rPr lang="en-IN" sz="1100" b="1"/>
                        <a:t>HTML, CSS, and JavaScript</a:t>
                      </a:r>
                      <a:r>
                        <a:rPr lang="en-IN" sz="1100"/>
                        <a:t>.</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3421748785"/>
                  </a:ext>
                </a:extLst>
              </a:tr>
              <a:tr h="424359">
                <a:tc>
                  <a:txBody>
                    <a:bodyPr/>
                    <a:lstStyle/>
                    <a:p>
                      <a:pPr>
                        <a:buNone/>
                      </a:pPr>
                      <a:r>
                        <a:rPr lang="en-IN" sz="1100" b="1"/>
                        <a:t>Phase 9</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Backend Development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Develop the backend using </a:t>
                      </a:r>
                      <a:r>
                        <a:rPr lang="en-IN" sz="1100" b="1"/>
                        <a:t>Python Flask</a:t>
                      </a:r>
                      <a:r>
                        <a:rPr lang="en-IN" sz="1100"/>
                        <a:t>, manage user authentication, and connect all modules.</a:t>
                      </a:r>
                      <a:endParaRPr lang="en-IN" sz="110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2901433378"/>
                  </a:ext>
                </a:extLst>
              </a:tr>
              <a:tr h="424359">
                <a:tc>
                  <a:txBody>
                    <a:bodyPr/>
                    <a:lstStyle/>
                    <a:p>
                      <a:pPr>
                        <a:buNone/>
                      </a:pPr>
                      <a:r>
                        <a:rPr lang="en-IN" sz="1100" b="1"/>
                        <a:t>Phase 10</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Integration &amp; Testing</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Integrate the frontend, backend, database, and AI components; perform testing and fix issues.</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833811249"/>
                  </a:ext>
                </a:extLst>
              </a:tr>
              <a:tr h="424359">
                <a:tc>
                  <a:txBody>
                    <a:bodyPr/>
                    <a:lstStyle/>
                    <a:p>
                      <a:pPr>
                        <a:buNone/>
                      </a:pPr>
                      <a:r>
                        <a:rPr lang="en-IN" sz="1100" b="1"/>
                        <a:t>Phase 11</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a:t>Documentation &amp; Deployment</a:t>
                      </a:r>
                      <a:endParaRPr lang="en-IN" sz="1100">
                        <a:latin typeface="Times New Roman" panose="02020603050405020304" pitchFamily="18" charset="0"/>
                        <a:cs typeface="Times New Roman" panose="02020603050405020304" pitchFamily="18" charset="0"/>
                      </a:endParaRPr>
                    </a:p>
                  </a:txBody>
                  <a:tcPr marL="40290" marR="40290" marT="20145" marB="20145" anchor="ctr"/>
                </a:tc>
                <a:tc>
                  <a:txBody>
                    <a:bodyPr/>
                    <a:lstStyle/>
                    <a:p>
                      <a:pPr>
                        <a:buNone/>
                      </a:pPr>
                      <a:r>
                        <a:rPr lang="en-IN" sz="1100" dirty="0"/>
                        <a:t>Prepare the project report, presentation, user documentation, and deploy the application.</a:t>
                      </a:r>
                      <a:endParaRPr lang="en-IN" sz="1100" dirty="0">
                        <a:latin typeface="Times New Roman" panose="02020603050405020304" pitchFamily="18" charset="0"/>
                        <a:cs typeface="Times New Roman" panose="02020603050405020304" pitchFamily="18" charset="0"/>
                      </a:endParaRPr>
                    </a:p>
                  </a:txBody>
                  <a:tcPr marL="40290" marR="40290" marT="20145" marB="20145" anchor="ctr"/>
                </a:tc>
                <a:extLst>
                  <a:ext uri="{0D108BD9-81ED-4DB2-BD59-A6C34878D82A}">
                    <a16:rowId xmlns:a16="http://schemas.microsoft.com/office/drawing/2014/main" val="1667402782"/>
                  </a:ext>
                </a:extLst>
              </a:tr>
            </a:tbl>
          </a:graphicData>
        </a:graphic>
      </p:graphicFrame>
      <p:graphicFrame>
        <p:nvGraphicFramePr>
          <p:cNvPr id="4" name="Table 3">
            <a:extLst>
              <a:ext uri="{FF2B5EF4-FFF2-40B4-BE49-F238E27FC236}">
                <a16:creationId xmlns:a16="http://schemas.microsoft.com/office/drawing/2014/main" id="{35A1846B-F9C8-A07C-1106-0616AEB934F1}"/>
              </a:ext>
            </a:extLst>
          </p:cNvPr>
          <p:cNvGraphicFramePr>
            <a:graphicFrameLocks noGrp="1"/>
          </p:cNvGraphicFramePr>
          <p:nvPr>
            <p:extLst>
              <p:ext uri="{D42A27DB-BD31-4B8C-83A1-F6EECF244321}">
                <p14:modId xmlns:p14="http://schemas.microsoft.com/office/powerpoint/2010/main" val="135040076"/>
              </p:ext>
            </p:extLst>
          </p:nvPr>
        </p:nvGraphicFramePr>
        <p:xfrm>
          <a:off x="1647372" y="766191"/>
          <a:ext cx="8405844" cy="370840"/>
        </p:xfrm>
        <a:graphic>
          <a:graphicData uri="http://schemas.openxmlformats.org/drawingml/2006/table">
            <a:tbl>
              <a:tblPr firstRow="1" bandRow="1">
                <a:tableStyleId>{5C22544A-7EE6-4342-B048-85BDC9FD1C3A}</a:tableStyleId>
              </a:tblPr>
              <a:tblGrid>
                <a:gridCol w="2801948">
                  <a:extLst>
                    <a:ext uri="{9D8B030D-6E8A-4147-A177-3AD203B41FA5}">
                      <a16:colId xmlns:a16="http://schemas.microsoft.com/office/drawing/2014/main" val="2158598273"/>
                    </a:ext>
                  </a:extLst>
                </a:gridCol>
                <a:gridCol w="2801948">
                  <a:extLst>
                    <a:ext uri="{9D8B030D-6E8A-4147-A177-3AD203B41FA5}">
                      <a16:colId xmlns:a16="http://schemas.microsoft.com/office/drawing/2014/main" val="2330343167"/>
                    </a:ext>
                  </a:extLst>
                </a:gridCol>
                <a:gridCol w="2801948">
                  <a:extLst>
                    <a:ext uri="{9D8B030D-6E8A-4147-A177-3AD203B41FA5}">
                      <a16:colId xmlns:a16="http://schemas.microsoft.com/office/drawing/2014/main" val="967014481"/>
                    </a:ext>
                  </a:extLst>
                </a:gridCol>
              </a:tblGrid>
              <a:tr h="370840">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119974"/>
                  </a:ext>
                </a:extLst>
              </a:tr>
            </a:tbl>
          </a:graphicData>
        </a:graphic>
      </p:graphicFrame>
      <p:sp>
        <p:nvSpPr>
          <p:cNvPr id="6" name="Rectangle: Rounded Corners 5">
            <a:extLst>
              <a:ext uri="{FF2B5EF4-FFF2-40B4-BE49-F238E27FC236}">
                <a16:creationId xmlns:a16="http://schemas.microsoft.com/office/drawing/2014/main" id="{A8FF286C-3C98-9539-0548-FB664A3F2C12}"/>
              </a:ext>
            </a:extLst>
          </p:cNvPr>
          <p:cNvSpPr/>
          <p:nvPr/>
        </p:nvSpPr>
        <p:spPr>
          <a:xfrm>
            <a:off x="3490403" y="175757"/>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Project plan</a:t>
            </a:r>
          </a:p>
        </p:txBody>
      </p:sp>
    </p:spTree>
    <p:extLst>
      <p:ext uri="{BB962C8B-B14F-4D97-AF65-F5344CB8AC3E}">
        <p14:creationId xmlns:p14="http://schemas.microsoft.com/office/powerpoint/2010/main" val="547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1069</Words>
  <Application>Microsoft Office PowerPoint</Application>
  <PresentationFormat>Widescreen</PresentationFormat>
  <Paragraphs>160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    Applied Machine Learning for Text Analysis (24ALT3101)  Retrieval-Augmented Medical Question Answering Assistant  Submitted by: K.Navya-240030180 N Deepika – 2420030097 K.Bhavya-2420030181  Group Number: 1  Section: 7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Deepika N</cp:lastModifiedBy>
  <cp:revision>22</cp:revision>
  <dcterms:created xsi:type="dcterms:W3CDTF">2024-08-29T05:25:00Z</dcterms:created>
  <dcterms:modified xsi:type="dcterms:W3CDTF">2026-08-06T14:39:28Z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