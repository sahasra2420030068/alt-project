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67" r:id="rId8"/>
    <p:sldId id="266" r:id="rId9"/>
    <p:sldId id="260" r:id="rId10"/>
    <p:sldId id="262" r:id="rId11"/>
    <p:sldId id="259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0800000" flipV="1">
            <a:off x="2839616" y="3984171"/>
            <a:ext cx="6512767" cy="925366"/>
          </a:xfrm>
        </p:spPr>
        <p:txBody>
          <a:bodyPr/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Applied Machine Learning for Text Analysis</a:t>
            </a:r>
            <a:endParaRPr lang="en-US" sz="2000" b="1" dirty="0">
              <a:solidFill>
                <a:srgbClr val="C00000"/>
              </a:solidFill>
              <a:latin typeface="+mn-lt"/>
            </a:endParaRPr>
          </a:p>
          <a:p>
            <a:pPr algn="ctr"/>
            <a:r>
              <a:rPr sz="2000" b="1">
                <a:solidFill>
                  <a:srgbClr val="C00000"/>
                </a:solidFill>
                <a:latin typeface="Times New Roman"/>
              </a:rPr>
              <a:t>(24ALT3101)</a:t>
            </a:r>
          </a:p>
          <a:p>
            <a:pPr algn="ctr"/>
          </a:p>
          <a:p>
            <a:pPr algn="ctr"/>
            <a:r>
              <a:rPr sz="2300" b="0">
                <a:latin typeface="Times New Roman"/>
              </a:rPr>
              <a:t>Large Language Model-Based Clinical Decision Support System</a:t>
            </a:r>
          </a:p>
          <a:p>
            <a:pPr algn="ctr"/>
          </a:p>
          <a:p>
            <a:pPr algn="ctr"/>
            <a:r>
              <a:rPr sz="1600">
                <a:latin typeface="Times New Roman"/>
              </a:rPr>
              <a:t>Submitted by:</a:t>
            </a:r>
          </a:p>
          <a:p>
            <a:pPr algn="ctr"/>
            <a:r>
              <a:rPr sz="1600">
                <a:latin typeface="Times New Roman"/>
              </a:rPr>
              <a:t>K.Navya-240030180</a:t>
            </a:r>
          </a:p>
          <a:p>
            <a:pPr algn="ctr"/>
            <a:r>
              <a:rPr sz="1600">
                <a:latin typeface="Times New Roman"/>
              </a:rPr>
              <a:t>N Deepika – 2420030097</a:t>
            </a:r>
          </a:p>
          <a:p>
            <a:pPr algn="ctr"/>
            <a:r>
              <a:rPr sz="1600">
                <a:latin typeface="Times New Roman"/>
              </a:rPr>
              <a:t>K.Bhavya-2420030181</a:t>
            </a:r>
          </a:p>
          <a:p>
            <a:pPr algn="ctr"/>
          </a:p>
          <a:p>
            <a:pPr algn="ctr"/>
            <a:r>
              <a:rPr sz="1600">
                <a:latin typeface="Times New Roman"/>
              </a:rPr>
              <a:t>Group Number: 1        Section: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90241" y="3984171"/>
            <a:ext cx="4551284" cy="309547"/>
          </a:xfrm>
        </p:spPr>
        <p:txBody>
          <a:bodyPr wrap="square"/>
          <a:lstStyle/>
          <a:p>
            <a:pPr marL="171450" algn="ctr">
              <a:lnSpc>
                <a:spcPct val="107000"/>
              </a:lnSpc>
              <a:spcAft>
                <a:spcPts val="800"/>
              </a:spcAft>
              <a:defRPr sz="1600" b="1">
                <a:latin typeface="Times New Roman"/>
              </a:defRPr>
            </a:pPr>
            <a:r>
              <a:t>Under the Guidance of: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algn="ctr">
              <a:defRPr sz="1600">
                <a:latin typeface="Times New Roman"/>
              </a:defRPr>
            </a:pPr>
            <a:r>
              <a:t>Mrs.Swanthana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036313" y="1235656"/>
            <a:ext cx="4484160" cy="532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700">
                <a:latin typeface="Times New Roman"/>
              </a:defRPr>
            </a:pPr>
            <a:r>
              <a:t>Abstract</a:t>
            </a:r>
          </a:p>
          <a:p>
            <a:pPr>
              <a:defRPr sz="1700">
                <a:latin typeface="Times New Roman"/>
              </a:defRPr>
            </a:pPr>
            <a:r>
              <a:t>Problem Statement</a:t>
            </a:r>
          </a:p>
          <a:p>
            <a:pPr>
              <a:defRPr sz="1700">
                <a:latin typeface="Times New Roman"/>
              </a:defRPr>
            </a:pPr>
            <a:r>
              <a:t>Objectives</a:t>
            </a:r>
          </a:p>
          <a:p>
            <a:pPr>
              <a:defRPr sz="1700">
                <a:latin typeface="Times New Roman"/>
              </a:defRPr>
            </a:pPr>
            <a:r>
              <a:t>Literature Survey</a:t>
            </a:r>
          </a:p>
          <a:p>
            <a:pPr>
              <a:defRPr sz="1700">
                <a:latin typeface="Times New Roman"/>
              </a:defRPr>
            </a:pPr>
            <a:r>
              <a:t>Research Gap Identification</a:t>
            </a:r>
          </a:p>
          <a:p>
            <a:pPr>
              <a:defRPr sz="1700">
                <a:latin typeface="Times New Roman"/>
              </a:defRPr>
            </a:pPr>
            <a:r>
              <a:t>Innovation</a:t>
            </a:r>
          </a:p>
          <a:p>
            <a:pPr>
              <a:defRPr sz="1700">
                <a:latin typeface="Times New Roman"/>
              </a:defRPr>
            </a:pPr>
            <a:r>
              <a:t>Creativity</a:t>
            </a:r>
          </a:p>
          <a:p>
            <a:pPr>
              <a:defRPr sz="1700">
                <a:latin typeface="Times New Roman"/>
              </a:defRPr>
            </a:pPr>
            <a:r>
              <a:t>Novelty</a:t>
            </a:r>
          </a:p>
          <a:p>
            <a:pPr>
              <a:defRPr sz="1700">
                <a:latin typeface="Times New Roman"/>
              </a:defRPr>
            </a:pPr>
            <a:r>
              <a:t>Feasibility</a:t>
            </a:r>
          </a:p>
          <a:p>
            <a:pPr>
              <a:defRPr sz="1700">
                <a:latin typeface="Times New Roman"/>
              </a:defRPr>
            </a:pPr>
            <a:r>
              <a:t>Flowchart</a:t>
            </a:r>
          </a:p>
          <a:p>
            <a:pPr>
              <a:defRPr sz="1700">
                <a:latin typeface="Times New Roman"/>
              </a:defRPr>
            </a:pPr>
            <a:r>
              <a:t>Project Plan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latin typeface="Times New Roman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078A58-6A66-8B6F-D0CB-F6E7C730B66C}"/>
              </a:ext>
            </a:extLst>
          </p:cNvPr>
          <p:cNvSpPr txBox="1"/>
          <p:nvPr/>
        </p:nvSpPr>
        <p:spPr>
          <a:xfrm>
            <a:off x="602183" y="1646853"/>
            <a:ext cx="1125415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 sz="1600">
                <a:latin typeface="Times New Roman"/>
              </a:defRPr>
            </a:pPr>
            <a:r>
              <a:t>Clinical decision-making often requires healthcare professionals to interpret large amounts of patient information, clinical guidelines, laboratory results, and medical literature.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This project proposes a Large Language Model-Based Clinical Decision Support System (LLM-CDSS) that assists clinicians by summarizing patient information, identifying relevant clinical factors, and generating evidence-aware decision support suggestions.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The system combines an LLM with a clinical knowledge base and retrieval mechanism to provide contextual recommendations, explanations, and supporting evidence while keeping the clinician in the decision loop.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The proposed platform is designed to improve information accessibility, consistency, and decision support without replacing professional clinical judgment.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1" y="188780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7E65F-A722-8232-E70C-F1EEB73CF4B1}"/>
              </a:ext>
            </a:extLst>
          </p:cNvPr>
          <p:cNvSpPr txBox="1"/>
          <p:nvPr/>
        </p:nvSpPr>
        <p:spPr>
          <a:xfrm>
            <a:off x="581606" y="2360646"/>
            <a:ext cx="110287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latin typeface="Times New Roman"/>
              </a:defRPr>
            </a:pPr>
            <a:r>
              <a:t>Healthcare professionals must review diverse and continuously changing clinical information before making decisions. Manual review of patient histories, test results, guidelines, and medical literature can be time-consuming and may increase the risk of missing relevant information.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Traditional clinical decision support tools are often rule-based and may struggle with unstructured clinical text or complex patient contexts. General-purpose AI systems can also produce unsupported or misleading medical statements when they are not grounded in trusted clinical knowledge.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The proposed system addresses this challenge by using a Large Language Model with clinical knowledge retrieval and structured reasoning support to deliver relevant, explainable, and clinician-reviewed decision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415616" y="154134"/>
            <a:ext cx="7808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9EB04F-FECD-A212-E715-01E5112D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69" y="1403676"/>
            <a:ext cx="1174413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1550">
                <a:latin typeface="Times New Roman"/>
              </a:defRPr>
            </a:pPr>
            <a:r>
              <a:t>The main objectives of this project are: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• To develop an LLM-based Clinical Decision Support System for healthcare professionals.</a:t>
            </a:r>
          </a:p>
          <a:p>
            <a:pPr>
              <a:defRPr sz="1550">
                <a:latin typeface="Times New Roman"/>
              </a:defRPr>
            </a:pPr>
            <a:r>
              <a:t>• To process patient information and clinical notes using natural language understanding.</a:t>
            </a:r>
          </a:p>
          <a:p>
            <a:pPr>
              <a:defRPr sz="1550">
                <a:latin typeface="Times New Roman"/>
              </a:defRPr>
            </a:pPr>
            <a:r>
              <a:t>• To retrieve relevant clinical guidelines, evidence, and knowledge before generating suggestions.</a:t>
            </a:r>
          </a:p>
          <a:p>
            <a:pPr>
              <a:defRPr sz="1550">
                <a:latin typeface="Times New Roman"/>
              </a:defRPr>
            </a:pPr>
            <a:r>
              <a:t>• To generate concise, context-aware summaries and decision support recommendations.</a:t>
            </a:r>
          </a:p>
          <a:p>
            <a:pPr>
              <a:defRPr sz="1550">
                <a:latin typeface="Times New Roman"/>
              </a:defRPr>
            </a:pPr>
            <a:r>
              <a:t>• To provide explanations and supporting evidence for model-generated suggestions.</a:t>
            </a:r>
          </a:p>
          <a:p>
            <a:pPr>
              <a:defRPr sz="1550">
                <a:latin typeface="Times New Roman"/>
              </a:defRPr>
            </a:pPr>
            <a:r>
              <a:t>• To identify potential risks, missing information, and clinically relevant warning signals.</a:t>
            </a:r>
          </a:p>
          <a:p>
            <a:pPr>
              <a:defRPr sz="1550">
                <a:latin typeface="Times New Roman"/>
              </a:defRPr>
            </a:pPr>
            <a:r>
              <a:t>• To maintain a clinician-in-the-loop workflow so that final decisions remain with qualified professionals.</a:t>
            </a:r>
          </a:p>
          <a:p>
            <a:pPr>
              <a:defRPr sz="1550">
                <a:latin typeface="Times New Roman"/>
              </a:defRPr>
            </a:pPr>
            <a:r>
              <a:t>• To design a simple, responsive, and user-friendly clinical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latin typeface="Times New Roman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5B9AAD-FC66-46ED-B0D8-5BFB371C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99938"/>
              </p:ext>
            </p:extLst>
          </p:nvPr>
        </p:nvGraphicFramePr>
        <p:xfrm>
          <a:off x="1097900" y="1431299"/>
          <a:ext cx="9660296" cy="4966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5074">
                  <a:extLst>
                    <a:ext uri="{9D8B030D-6E8A-4147-A177-3AD203B41FA5}">
                      <a16:colId xmlns:a16="http://schemas.microsoft.com/office/drawing/2014/main" val="3740014946"/>
                    </a:ext>
                  </a:extLst>
                </a:gridCol>
                <a:gridCol w="2415074">
                  <a:extLst>
                    <a:ext uri="{9D8B030D-6E8A-4147-A177-3AD203B41FA5}">
                      <a16:colId xmlns:a16="http://schemas.microsoft.com/office/drawing/2014/main" val="2527634954"/>
                    </a:ext>
                  </a:extLst>
                </a:gridCol>
                <a:gridCol w="2415074">
                  <a:extLst>
                    <a:ext uri="{9D8B030D-6E8A-4147-A177-3AD203B41FA5}">
                      <a16:colId xmlns:a16="http://schemas.microsoft.com/office/drawing/2014/main" val="3740456712"/>
                    </a:ext>
                  </a:extLst>
                </a:gridCol>
                <a:gridCol w="2415074">
                  <a:extLst>
                    <a:ext uri="{9D8B030D-6E8A-4147-A177-3AD203B41FA5}">
                      <a16:colId xmlns:a16="http://schemas.microsoft.com/office/drawing/2014/main" val="1994384583"/>
                    </a:ext>
                  </a:extLst>
                </a:gridCol>
              </a:tblGrid>
              <a:tr h="557018"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Research Paper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Techniques Used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Purpose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latin typeface="Times New Roman"/>
                        </a:rPr>
                        <a:t>Limitation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742706448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ClinicalBERT: Modeling Clinical Notes and Predicting Hospital Readmission (2019)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BERT, Clinical NLP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Learns representations from clinical notes for downstream healthcare tasks.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Focused on specific prediction tasks rather than interactive decision support.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377232246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GatorTron: A Large Clinical Language Model (2022)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Large Transformer, Clinical Text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Learns clinical language representations from large-scale healthcare text.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Large training and deployment requirements.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01220958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Large Language Models Encode Clinical Knowledge (2023)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LLMs, Medical QA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Investigates how language models can capture medical and clinical knowledge.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General knowledge does not guarantee patient-specific or evidence-grounded decisions.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815655940"/>
                  </a:ext>
                </a:extLst>
              </a:tr>
              <a:tr h="819957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Towards Generalist Biomedical AI (2023)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Multimodal / Foundation Models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Explores general-purpose AI for biomedical and clinical applications.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Complexity and safety considerations limit direct clinical deployment.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042119653"/>
                  </a:ext>
                </a:extLst>
              </a:tr>
              <a:tr h="557018"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LLM-Based Clinical Decision Support (Recent Research)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LLM, RAG, Clinical Knowledge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Uses language models with retrieval and structured context for clinical assistance.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latin typeface="Times New Roman"/>
                        </a:rPr>
                        <a:t>Requires reliable evidence retrieval, validation, privacy, and clinician oversight.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8474292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9C727E-6180-1A74-BD5B-383FB865F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356176"/>
              </p:ext>
            </p:extLst>
          </p:nvPr>
        </p:nvGraphicFramePr>
        <p:xfrm>
          <a:off x="1097900" y="1060459"/>
          <a:ext cx="966029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295">
                  <a:extLst>
                    <a:ext uri="{9D8B030D-6E8A-4147-A177-3AD203B41FA5}">
                      <a16:colId xmlns:a16="http://schemas.microsoft.com/office/drawing/2014/main" val="2123066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2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0E8EB32-DFB9-70B5-2C1A-00074CFA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72" y="3017534"/>
            <a:ext cx="103633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7DA5-C0A9-6F74-966A-208A7A1C1A93}"/>
              </a:ext>
            </a:extLst>
          </p:cNvPr>
          <p:cNvSpPr txBox="1"/>
          <p:nvPr/>
        </p:nvSpPr>
        <p:spPr>
          <a:xfrm>
            <a:off x="541173" y="1056907"/>
            <a:ext cx="663406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50" b="1">
                <a:latin typeface="Times New Roman"/>
              </a:defRPr>
            </a:pPr>
            <a:r>
              <a:t>Research Gap Identification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• Many clinical AI models focus on a single prediction or classification task.</a:t>
            </a:r>
          </a:p>
          <a:p>
            <a:pPr>
              <a:defRPr sz="1550">
                <a:latin typeface="Times New Roman"/>
              </a:defRPr>
            </a:pPr>
            <a:r>
              <a:t>• General-purpose LLMs may generate plausible but unsupported clinical statements.</a:t>
            </a:r>
          </a:p>
          <a:p>
            <a:pPr>
              <a:defRPr sz="1550">
                <a:latin typeface="Times New Roman"/>
              </a:defRPr>
            </a:pPr>
            <a:r>
              <a:t>• Patient-specific context is not always combined with current clinical evidence.</a:t>
            </a:r>
          </a:p>
          <a:p>
            <a:pPr>
              <a:defRPr sz="1550">
                <a:latin typeface="Times New Roman"/>
              </a:defRPr>
            </a:pPr>
            <a:r>
              <a:t>• Several systems provide limited explanations for their recommendations.</a:t>
            </a:r>
          </a:p>
          <a:p>
            <a:pPr>
              <a:defRPr sz="1550">
                <a:latin typeface="Times New Roman"/>
              </a:defRPr>
            </a:pPr>
            <a:r>
              <a:t>• Privacy, safety, uncertainty, and clinician oversight are essential for practical adoption.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4C301-2406-4BDF-09A1-8EA3C1CEC91B}"/>
              </a:ext>
            </a:extLst>
          </p:cNvPr>
          <p:cNvSpPr txBox="1"/>
          <p:nvPr/>
        </p:nvSpPr>
        <p:spPr>
          <a:xfrm>
            <a:off x="601821" y="3776484"/>
            <a:ext cx="65127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50" b="1">
                <a:latin typeface="Times New Roman"/>
              </a:defRPr>
            </a:pPr>
            <a:r>
              <a:t>Innovation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The proposed system introduces:</a:t>
            </a:r>
          </a:p>
          <a:p>
            <a:pPr>
              <a:defRPr sz="1550">
                <a:latin typeface="Times New Roman"/>
              </a:defRPr>
            </a:pPr>
          </a:p>
          <a:p>
            <a:pPr>
              <a:defRPr sz="1550">
                <a:latin typeface="Times New Roman"/>
              </a:defRPr>
            </a:pPr>
            <a:r>
              <a:t>• LLM-based clinical reasoning support over structured and unstructured patient information.</a:t>
            </a:r>
          </a:p>
          <a:p>
            <a:pPr>
              <a:defRPr sz="1550">
                <a:latin typeface="Times New Roman"/>
              </a:defRPr>
            </a:pPr>
            <a:r>
              <a:t>• Retrieval-Augmented Generation (RAG) to ground responses in trusted clinical knowledge.</a:t>
            </a:r>
          </a:p>
          <a:p>
            <a:pPr>
              <a:defRPr sz="1550">
                <a:latin typeface="Times New Roman"/>
              </a:defRPr>
            </a:pPr>
            <a:r>
              <a:t>• Evidence-linked recommendations with transparent supporting context.</a:t>
            </a:r>
          </a:p>
          <a:p>
            <a:pPr>
              <a:defRPr sz="1550">
                <a:latin typeface="Times New Roman"/>
              </a:defRPr>
            </a:pPr>
            <a:r>
              <a:t>• Risk and uncertainty indicators to highlight cases requiring closer review.</a:t>
            </a:r>
          </a:p>
          <a:p>
            <a:pPr>
              <a:defRPr sz="1550">
                <a:latin typeface="Times New Roman"/>
              </a:defRPr>
            </a:pPr>
            <a:r>
              <a:t>• Clinician-in-the-loop approval before any recommendation is acted upon.</a:t>
            </a:r>
          </a:p>
          <a:p>
            <a:pPr>
              <a:defRPr sz="1550">
                <a:latin typeface="Times New Roman"/>
              </a:defRPr>
            </a:pPr>
            <a:r>
              <a:t>• A practical web-based interface for summaries, alerts, and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F3910A-D3E5-22FF-9AC2-A77556426F36}"/>
              </a:ext>
            </a:extLst>
          </p:cNvPr>
          <p:cNvSpPr txBox="1"/>
          <p:nvPr/>
        </p:nvSpPr>
        <p:spPr>
          <a:xfrm>
            <a:off x="641480" y="1450253"/>
            <a:ext cx="717757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 b="1">
                <a:latin typeface="Times New Roman"/>
              </a:defRPr>
            </a:pPr>
            <a:r>
              <a:t>Creativity</a:t>
            </a:r>
          </a:p>
          <a:p>
            <a:pPr>
              <a:defRPr sz="1600">
                <a:latin typeface="Times New Roman"/>
              </a:defRPr>
            </a:pPr>
            <a:r>
              <a:t>The project combines modern generative AI with a practical clinical workflow.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Key creative features include: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• AI-assisted patient case summarization.</a:t>
            </a:r>
          </a:p>
          <a:p>
            <a:pPr>
              <a:defRPr sz="1600">
                <a:latin typeface="Times New Roman"/>
              </a:defRPr>
            </a:pPr>
            <a:r>
              <a:t>• Natural-language interaction for clinical queries.</a:t>
            </a:r>
          </a:p>
          <a:p>
            <a:pPr>
              <a:defRPr sz="1600">
                <a:latin typeface="Times New Roman"/>
              </a:defRPr>
            </a:pPr>
            <a:r>
              <a:t>• Evidence retrieval alongside every major recommendation.</a:t>
            </a:r>
          </a:p>
          <a:p>
            <a:pPr>
              <a:defRPr sz="1600">
                <a:latin typeface="Times New Roman"/>
              </a:defRPr>
            </a:pPr>
            <a:r>
              <a:t>• Explainable suggestions showing relevant clinical factors.</a:t>
            </a:r>
          </a:p>
          <a:p>
            <a:pPr>
              <a:defRPr sz="1600">
                <a:latin typeface="Times New Roman"/>
              </a:defRPr>
            </a:pPr>
            <a:r>
              <a:t>• Risk flags for potentially critical findings.</a:t>
            </a:r>
          </a:p>
          <a:p>
            <a:pPr>
              <a:defRPr sz="1600">
                <a:latin typeface="Times New Roman"/>
              </a:defRPr>
            </a:pPr>
            <a:r>
              <a:t>• Suggested follow-up questions and missing-data prompts.</a:t>
            </a:r>
          </a:p>
          <a:p>
            <a:pPr>
              <a:defRPr sz="1600">
                <a:latin typeface="Times New Roman"/>
              </a:defRPr>
            </a:pPr>
            <a:r>
              <a:t>• Clinician review and feedback before final action.</a:t>
            </a:r>
          </a:p>
          <a:p>
            <a:pPr>
              <a:defRPr sz="1600">
                <a:latin typeface="Times New Roman"/>
              </a:defRPr>
            </a:pPr>
            <a:r>
              <a:t>• Clean dashboard for patient context, recommendations,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F00390-288F-1C85-A34B-30E7BA4BC94D}"/>
              </a:ext>
            </a:extLst>
          </p:cNvPr>
          <p:cNvSpPr txBox="1"/>
          <p:nvPr/>
        </p:nvSpPr>
        <p:spPr>
          <a:xfrm>
            <a:off x="417545" y="1290172"/>
            <a:ext cx="7093598" cy="374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600" b="1">
                <a:latin typeface="Times New Roman"/>
              </a:defRPr>
            </a:pPr>
            <a:r>
              <a:t>Novelty</a:t>
            </a:r>
          </a:p>
          <a:p>
            <a:pPr>
              <a:defRPr sz="1600">
                <a:latin typeface="Times New Roman"/>
              </a:defRPr>
            </a:pPr>
            <a:r>
              <a:t>The uniqueness of this project lies in integrating: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• Large Language Models for natural-language clinical decision support.</a:t>
            </a:r>
          </a:p>
          <a:p>
            <a:pPr>
              <a:defRPr sz="1600">
                <a:latin typeface="Times New Roman"/>
              </a:defRPr>
            </a:pPr>
            <a:r>
              <a:t>• Retrieval-Augmented Generation for evidence-grounded responses.</a:t>
            </a:r>
          </a:p>
          <a:p>
            <a:pPr>
              <a:defRPr sz="1600">
                <a:latin typeface="Times New Roman"/>
              </a:defRPr>
            </a:pPr>
            <a:r>
              <a:t>• Patient-context understanding across clinical notes and structured data.</a:t>
            </a:r>
          </a:p>
          <a:p>
            <a:pPr>
              <a:defRPr sz="1600">
                <a:latin typeface="Times New Roman"/>
              </a:defRPr>
            </a:pPr>
            <a:r>
              <a:t>• Explainable recommendations with supporting evidence.</a:t>
            </a:r>
          </a:p>
          <a:p>
            <a:pPr>
              <a:defRPr sz="1600">
                <a:latin typeface="Times New Roman"/>
              </a:defRPr>
            </a:pPr>
            <a:r>
              <a:t>• Risk-aware outputs that communicate uncertainty and possible warning signals.</a:t>
            </a:r>
          </a:p>
          <a:p>
            <a:pPr>
              <a:defRPr sz="1600">
                <a:latin typeface="Times New Roman"/>
              </a:defRPr>
            </a:pPr>
            <a:r>
              <a:t>• A clinician-in-the-loop workflow rather than autonomous medical decision-making.</a:t>
            </a:r>
          </a:p>
          <a:p>
            <a:pPr>
              <a:defRPr sz="1600">
                <a:latin typeface="Times New Roman"/>
              </a:defRPr>
            </a:pPr>
            <a:r>
              <a:t>• A complete web-based clinical assistant instead of a standalone research model.</a:t>
            </a:r>
          </a:p>
          <a:p>
            <a:pPr>
              <a:defRPr sz="1600">
                <a:latin typeface="Times New Roman"/>
              </a:defRPr>
            </a:pPr>
          </a:p>
          <a:p>
            <a:pPr>
              <a:defRPr sz="1600">
                <a:latin typeface="Times New Roman"/>
              </a:defRPr>
            </a:pPr>
            <a:r>
              <a:t>This combination aims to improve accessibility, transparency, consistency, and safety of AI-assisted clinical decision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010E39-C34F-2D90-E757-2B5373BF5544}"/>
              </a:ext>
            </a:extLst>
          </p:cNvPr>
          <p:cNvSpPr txBox="1"/>
          <p:nvPr/>
        </p:nvSpPr>
        <p:spPr>
          <a:xfrm>
            <a:off x="856083" y="977310"/>
            <a:ext cx="6664390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 sz="1520" b="1">
                <a:latin typeface="Times New Roman"/>
              </a:defRPr>
            </a:pPr>
            <a:r>
              <a:t>Feasibility</a:t>
            </a:r>
          </a:p>
          <a:p>
            <a:pPr>
              <a:defRPr sz="1520">
                <a:latin typeface="Times New Roman"/>
              </a:defRPr>
            </a:pPr>
            <a:r>
              <a:t>The project is feasible because: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Technical Feasibility</a:t>
            </a:r>
          </a:p>
          <a:p>
            <a:pPr>
              <a:defRPr sz="1520">
                <a:latin typeface="Times New Roman"/>
              </a:defRPr>
            </a:pPr>
            <a:r>
              <a:t>Uses established technologies such as Python, web frameworks, LLM APIs/open models, vector databases, NLP libraries, and standard database systems. The architecture can be implemented as modular services.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Economic Feasibility</a:t>
            </a:r>
          </a:p>
          <a:p>
            <a:pPr>
              <a:defRPr sz="1520">
                <a:latin typeface="Times New Roman"/>
              </a:defRPr>
            </a:pPr>
            <a:r>
              <a:t>A prototype can be developed using open-source libraries and free or low-cost development resources. Cloud usage can be limited during experimentation.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Operational Feasibility</a:t>
            </a:r>
          </a:p>
          <a:p>
            <a:pPr>
              <a:defRPr sz="1520">
                <a:latin typeface="Times New Roman"/>
              </a:defRPr>
            </a:pPr>
            <a:r>
              <a:t>The system can be accessed through a simple clinical dashboard and designed around existing information review workflows.</a:t>
            </a:r>
          </a:p>
          <a:p>
            <a:pPr>
              <a:defRPr sz="1520">
                <a:latin typeface="Times New Roman"/>
              </a:defRPr>
            </a:pPr>
          </a:p>
          <a:p>
            <a:pPr>
              <a:defRPr sz="1520">
                <a:latin typeface="Times New Roman"/>
              </a:defRPr>
            </a:pPr>
            <a:r>
              <a:t>Safety &amp; Compliance Feasibility</a:t>
            </a:r>
          </a:p>
          <a:p>
            <a:pPr>
              <a:defRPr sz="1520">
                <a:latin typeface="Times New Roman"/>
              </a:defRPr>
            </a:pPr>
            <a:r>
              <a:t>The prototype can use de-identified or synthetic data, provide evidence and uncertainty indicators, and require clinician review before recommendations are acted upon.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08311" y="202918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Times New Roman"/>
              </a:rPr>
              <a:t>flowchart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94349" y="1453598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latin typeface="Times New Roman"/>
              </a:rPr>
              <a:t>Flow Chart</a:t>
            </a:r>
          </a:p>
        </p:txBody>
      </p:sp>
      <p:pic>
        <p:nvPicPr>
          <p:cNvPr id="4" name="Picture 3" descr="clinical_cdss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804672"/>
            <a:ext cx="4873752" cy="5705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8EC9D9-414E-5FB9-B24A-8B7685354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351859"/>
              </p:ext>
            </p:extLst>
          </p:nvPr>
        </p:nvGraphicFramePr>
        <p:xfrm>
          <a:off x="1754156" y="1137031"/>
          <a:ext cx="8192277" cy="5094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0759">
                  <a:extLst>
                    <a:ext uri="{9D8B030D-6E8A-4147-A177-3AD203B41FA5}">
                      <a16:colId xmlns:a16="http://schemas.microsoft.com/office/drawing/2014/main" val="3927649832"/>
                    </a:ext>
                  </a:extLst>
                </a:gridCol>
                <a:gridCol w="2730759">
                  <a:extLst>
                    <a:ext uri="{9D8B030D-6E8A-4147-A177-3AD203B41FA5}">
                      <a16:colId xmlns:a16="http://schemas.microsoft.com/office/drawing/2014/main" val="1600445934"/>
                    </a:ext>
                  </a:extLst>
                </a:gridCol>
                <a:gridCol w="2730759">
                  <a:extLst>
                    <a:ext uri="{9D8B030D-6E8A-4147-A177-3AD203B41FA5}">
                      <a16:colId xmlns:a16="http://schemas.microsoft.com/office/drawing/2014/main" val="3421306975"/>
                    </a:ext>
                  </a:extLst>
                </a:gridCol>
              </a:tblGrid>
              <a:tr h="169524">
                <a:tc>
                  <a:txBody>
                    <a:bodyPr wrap="square"/>
                    <a:lstStyle/>
                    <a:p/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latin typeface="Times New Roman"/>
                        </a:rPr>
                        <a:t>Activity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latin typeface="Times New Roman"/>
                        </a:rPr>
                        <a:t>Description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441200723"/>
                  </a:ext>
                </a:extLst>
              </a:tr>
              <a:tr h="296941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Requirement Analysis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Define clinical workflow, objectives, scope, users, and safety requirements.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430911486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2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Literature Survey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Study LLMs, clinical NLP, RAG, and existing clinical decision support systems.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004652080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3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Data Preparation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Prepare de-identified or synthetic patient cases and trusted clinical knowledge sources.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916929128"/>
                  </a:ext>
                </a:extLst>
              </a:tr>
              <a:tr h="296941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Clinical Text Processing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Clean, structure, and normalize patient notes and relevant clinical information.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051988304"/>
                  </a:ext>
                </a:extLst>
              </a:tr>
              <a:tr h="296941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Knowledge Retrieval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Create embeddings and a vector index for retrieving relevant clinical evidence.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6028098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6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LLM Integration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Connect the language model with patient context, retrieved evidence, and safety prompts.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017510529"/>
                  </a:ext>
                </a:extLst>
              </a:tr>
              <a:tr h="551776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7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CDSS Workflow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Implement risk flags, summaries, recommendations, explanations, and clinician review.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9742730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8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Frontend Development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Design a responsive dashboard for patient context, evidence, and decision support.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421748785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9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Backend Development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Develop APIs, authentication, database connectivity, and model/retrieval services.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901433378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10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Integration &amp; Testing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Integrate all components and test accuracy, usability, robustness, and safety.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833811249"/>
                  </a:ext>
                </a:extLst>
              </a:tr>
              <a:tr h="424359"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Phase 11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Documentation &amp; Deployment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 wrap="square"/>
                    <a:lstStyle/>
                    <a:p>
                      <a:r>
                        <a:rPr sz="930" b="0">
                          <a:latin typeface="Times New Roman"/>
                        </a:rPr>
                        <a:t>Prepare report, presentation, user documentation, and deploy the prototype.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66740278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A1846B-F9C8-A07C-1106-0616AEB93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40076"/>
              </p:ext>
            </p:extLst>
          </p:nvPr>
        </p:nvGraphicFramePr>
        <p:xfrm>
          <a:off x="1647372" y="766191"/>
          <a:ext cx="8405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1948">
                  <a:extLst>
                    <a:ext uri="{9D8B030D-6E8A-4147-A177-3AD203B41FA5}">
                      <a16:colId xmlns:a16="http://schemas.microsoft.com/office/drawing/2014/main" val="2158598273"/>
                    </a:ext>
                  </a:extLst>
                </a:gridCol>
                <a:gridCol w="2801948">
                  <a:extLst>
                    <a:ext uri="{9D8B030D-6E8A-4147-A177-3AD203B41FA5}">
                      <a16:colId xmlns:a16="http://schemas.microsoft.com/office/drawing/2014/main" val="2330343167"/>
                    </a:ext>
                  </a:extLst>
                </a:gridCol>
                <a:gridCol w="2801948">
                  <a:extLst>
                    <a:ext uri="{9D8B030D-6E8A-4147-A177-3AD203B41FA5}">
                      <a16:colId xmlns:a16="http://schemas.microsoft.com/office/drawing/2014/main" val="967014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1997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FF286C-3C98-9539-0548-FB664A3F2C12}"/>
              </a:ext>
            </a:extLst>
          </p:cNvPr>
          <p:cNvSpPr/>
          <p:nvPr/>
        </p:nvSpPr>
        <p:spPr>
          <a:xfrm>
            <a:off x="3490403" y="175757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latin typeface="Times New Roman"/>
              </a:rPr>
              <a:t>Project plan</a:t>
            </a:r>
          </a:p>
        </p:txBody>
      </p:sp>
    </p:spTree>
    <p:extLst>
      <p:ext uri="{BB962C8B-B14F-4D97-AF65-F5344CB8AC3E}">
        <p14:creationId xmlns:p14="http://schemas.microsoft.com/office/powerpoint/2010/main" val="54794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latin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1069</Words>
  <Application>Microsoft Office PowerPoint</Application>
  <PresentationFormat>Widescreen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   Applied Machine Learning for Text Analysis (24ALT3101)  Retrieval-Augmented Medical Question Answering Assistant  Submitted by: K.Navya-240030180 N Deepika – 2420030097 K.Bhavya-2420030181  Group Number: 1  Section: 7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Deepika N</cp:lastModifiedBy>
  <cp:revision>22</cp:revision>
  <dcterms:created xsi:type="dcterms:W3CDTF">2024-08-29T05:25:00Z</dcterms:created>
  <dcterms:modified xsi:type="dcterms:W3CDTF">2026-08-06T14:39:28Z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